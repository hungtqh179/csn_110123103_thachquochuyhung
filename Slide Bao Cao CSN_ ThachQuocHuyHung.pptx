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3" r:id="rId16"/>
    <p:sldId id="272" r:id="rId17"/>
    <p:sldId id="274" r:id="rId18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7470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E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3F3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jpeg"/><Relationship Id="rId5" Type="http://schemas.openxmlformats.org/officeDocument/2006/relationships/image" Target="../media/image6.png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401" y="7607263"/>
            <a:ext cx="2032000" cy="533474"/>
          </a:xfrm>
          <a:prstGeom prst="rect">
            <a:avLst/>
          </a:prstGeom>
        </p:spPr>
      </p:pic>
      <p:sp>
        <p:nvSpPr>
          <p:cNvPr id="7" name="Right Triangle 6"/>
          <p:cNvSpPr/>
          <p:nvPr/>
        </p:nvSpPr>
        <p:spPr>
          <a:xfrm rot="10800000">
            <a:off x="7734299" y="-1"/>
            <a:ext cx="6896103" cy="8140738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/>
          <p:cNvSpPr/>
          <p:nvPr/>
        </p:nvSpPr>
        <p:spPr>
          <a:xfrm>
            <a:off x="1087471" y="2343149"/>
            <a:ext cx="5965799" cy="1425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BÁO CÁO ĐỒ ÁN CƠ SỞ NGÀNH </a:t>
            </a:r>
            <a:endParaRPr lang="en-US" sz="4450" dirty="0">
              <a:latin typeface="Bahnschrift SemiBold Condensed" panose="020B0502040204020203" pitchFamily="34" charset="0"/>
            </a:endParaRPr>
          </a:p>
        </p:txBody>
      </p:sp>
      <p:pic>
        <p:nvPicPr>
          <p:cNvPr id="1026" name="Picture 2" descr="Cơ cấu tổ chức của Trường Kỹ thuật và Công nghệ thuộc Trường Đại học Trà  Vinh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41" y="133037"/>
            <a:ext cx="7708860" cy="13765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hort introduction to doubly linked list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4801" y="2133601"/>
            <a:ext cx="6800851" cy="4857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 0"/>
          <p:cNvSpPr/>
          <p:nvPr/>
        </p:nvSpPr>
        <p:spPr>
          <a:xfrm>
            <a:off x="120689" y="3139676"/>
            <a:ext cx="7518357" cy="27735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0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ĐỀ TÀI</a:t>
            </a:r>
          </a:p>
          <a:p>
            <a:pPr algn="ctr">
              <a:lnSpc>
                <a:spcPts val="5550"/>
              </a:lnSpc>
            </a:pP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Ứng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dụng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danh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sách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liên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kết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kép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để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viết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chương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trình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quản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lý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điểm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kỳ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thi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Olympic Tin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học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sinh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</a:t>
            </a:r>
            <a:r>
              <a:rPr lang="en-US" sz="4000" dirty="0" err="1">
                <a:solidFill>
                  <a:srgbClr val="FF0000"/>
                </a:solidFill>
                <a:latin typeface="Bahnschrift SemiBold Condensed" panose="020B0502040204020203" pitchFamily="34" charset="0"/>
              </a:rPr>
              <a:t>viên</a:t>
            </a:r>
            <a:r>
              <a:rPr lang="en-US" sz="40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 TVU</a:t>
            </a:r>
          </a:p>
          <a:p>
            <a:pPr marL="0" indent="0" algn="ctr">
              <a:lnSpc>
                <a:spcPts val="5550"/>
              </a:lnSpc>
              <a:buNone/>
            </a:pPr>
            <a:endParaRPr lang="en-US" sz="4450" dirty="0">
              <a:latin typeface="Bahnschrift SemiBold Condensed" panose="020B0502040204020203" pitchFamily="34" charset="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215941" y="6328404"/>
            <a:ext cx="4411064" cy="19492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Giảng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viên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hướng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dẫn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: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Ths.Lê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 Minh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Tự</a:t>
            </a:r>
            <a:endParaRPr lang="en-US" sz="2400" dirty="0">
              <a:latin typeface="Bahnschrift SemiBold Condensed" panose="020B0502040204020203" pitchFamily="34" charset="0"/>
              <a:ea typeface="Arial Italics"/>
              <a:cs typeface="Arial Italics"/>
              <a:sym typeface="Arial Italics"/>
            </a:endParaRPr>
          </a:p>
          <a:p>
            <a:pPr algn="l">
              <a:lnSpc>
                <a:spcPts val="3779"/>
              </a:lnSpc>
            </a:pP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Sinh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viên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thực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hiện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: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Thạch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Quốc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 Huy Hùng</a:t>
            </a:r>
          </a:p>
          <a:p>
            <a:pPr algn="l">
              <a:lnSpc>
                <a:spcPts val="3779"/>
              </a:lnSpc>
            </a:pP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Mã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số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sinh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 </a:t>
            </a: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viên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: 110123103</a:t>
            </a:r>
          </a:p>
          <a:p>
            <a:pPr algn="l">
              <a:lnSpc>
                <a:spcPts val="3779"/>
              </a:lnSpc>
            </a:pPr>
            <a:r>
              <a:rPr lang="en-US" sz="2400" dirty="0" err="1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Lớp</a:t>
            </a:r>
            <a:r>
              <a:rPr lang="en-US" sz="2400" dirty="0">
                <a:latin typeface="Bahnschrift SemiBold Condensed" panose="020B0502040204020203" pitchFamily="34" charset="0"/>
                <a:ea typeface="Arial Italics"/>
                <a:cs typeface="Arial Italics"/>
                <a:sym typeface="Arial Italics"/>
              </a:rPr>
              <a:t>: DA23TTC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7354" y="589240"/>
            <a:ext cx="2628239" cy="6584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60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Nội</a:t>
            </a:r>
            <a:r>
              <a:rPr lang="en-US" sz="60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dung</a:t>
            </a:r>
            <a:endParaRPr lang="en-US" sz="6000" dirty="0">
              <a:latin typeface="Bahnschrift SemiBold Condensed" panose="020B0502040204020203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37354" y="2149609"/>
            <a:ext cx="263354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1.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Lý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do chọn đề tài</a:t>
            </a: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037182" y="4997991"/>
            <a:ext cx="252770" cy="3159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endParaRPr lang="en-US" sz="3200" dirty="0">
              <a:latin typeface="Bahnschrift SemiBold Condensed" panose="020B0502040204020203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37354" y="5001979"/>
            <a:ext cx="263354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3.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Mục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tiêu nghiên cứu</a:t>
            </a: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9648230" y="1985010"/>
            <a:ext cx="4244816" cy="2901553"/>
          </a:xfrm>
          <a:prstGeom prst="roundRect">
            <a:avLst>
              <a:gd name="adj" fmla="val 3782"/>
            </a:avLst>
          </a:prstGeom>
          <a:solidFill>
            <a:srgbClr val="F3F3F7"/>
          </a:solidFill>
          <a:ln/>
        </p:spPr>
      </p:sp>
      <p:sp>
        <p:nvSpPr>
          <p:cNvPr id="19" name="Text 17"/>
          <p:cNvSpPr/>
          <p:nvPr/>
        </p:nvSpPr>
        <p:spPr>
          <a:xfrm>
            <a:off x="732050" y="3575794"/>
            <a:ext cx="263354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2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Đối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tượng nghiên cứu</a:t>
            </a: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32050" y="6471302"/>
            <a:ext cx="2633543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4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Phạm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vi nghiên cứu</a:t>
            </a: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879154" y="2149609"/>
            <a:ext cx="3026926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5.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Phương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pháp nghiên cứu</a:t>
            </a:r>
            <a:endParaRPr lang="en-US" sz="3600" dirty="0">
              <a:latin typeface="Bahnschrift SemiBold Condensed" panose="020B0502040204020203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401" y="7607263"/>
            <a:ext cx="2032000" cy="533474"/>
          </a:xfrm>
          <a:prstGeom prst="rect">
            <a:avLst/>
          </a:prstGeom>
        </p:spPr>
      </p:pic>
      <p:sp>
        <p:nvSpPr>
          <p:cNvPr id="34" name="Text 29"/>
          <p:cNvSpPr/>
          <p:nvPr/>
        </p:nvSpPr>
        <p:spPr>
          <a:xfrm>
            <a:off x="4879153" y="3533955"/>
            <a:ext cx="3390639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6.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Kết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quả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nghiên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cứu</a:t>
            </a: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35" name="Text 29"/>
          <p:cNvSpPr/>
          <p:nvPr/>
        </p:nvSpPr>
        <p:spPr>
          <a:xfrm>
            <a:off x="4893490" y="4959169"/>
            <a:ext cx="3026926" cy="329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7.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Kết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luận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và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hướng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phát</a:t>
            </a:r>
            <a:r>
              <a:rPr lang="en-US" sz="3600" b="1" dirty="0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 </a:t>
            </a:r>
            <a:r>
              <a:rPr lang="en-US" sz="3600" b="1" dirty="0" err="1">
                <a:latin typeface="Bahnschrift SemiBold Condensed" panose="020B0502040204020203" pitchFamily="34" charset="0"/>
                <a:ea typeface="Playfair Display Bold" pitchFamily="34" charset="-122"/>
                <a:cs typeface="Playfair Display Bold" pitchFamily="34" charset="-120"/>
              </a:rPr>
              <a:t>triển</a:t>
            </a: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37" name="Right Triangle 36"/>
          <p:cNvSpPr/>
          <p:nvPr/>
        </p:nvSpPr>
        <p:spPr>
          <a:xfrm rot="10800000">
            <a:off x="7734299" y="-1"/>
            <a:ext cx="6896103" cy="8140738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9" name="Straight Connector 38"/>
          <p:cNvCxnSpPr/>
          <p:nvPr/>
        </p:nvCxnSpPr>
        <p:spPr>
          <a:xfrm>
            <a:off x="4438650" y="1247656"/>
            <a:ext cx="0" cy="6981944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400" y="7607263"/>
            <a:ext cx="2032000" cy="533474"/>
          </a:xfrm>
          <a:prstGeom prst="rect">
            <a:avLst/>
          </a:prstGeom>
        </p:spPr>
      </p:pic>
      <p:sp>
        <p:nvSpPr>
          <p:cNvPr id="24" name="Right Triangle 23"/>
          <p:cNvSpPr/>
          <p:nvPr/>
        </p:nvSpPr>
        <p:spPr>
          <a:xfrm rot="10800000">
            <a:off x="8591549" y="-2"/>
            <a:ext cx="6038852" cy="8140739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431840" y="51857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1. </a:t>
            </a:r>
            <a:r>
              <a:rPr lang="en-US" sz="5400" b="1" dirty="0" err="1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Lý</a:t>
            </a:r>
            <a:r>
              <a:rPr lang="en-US" sz="54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 do </a:t>
            </a:r>
            <a:r>
              <a:rPr lang="en-US" sz="5400" b="1" dirty="0" err="1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chọn</a:t>
            </a:r>
            <a:r>
              <a:rPr lang="en-US" sz="54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 </a:t>
            </a:r>
            <a:r>
              <a:rPr lang="en-US" sz="5400" b="1" dirty="0" err="1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đề</a:t>
            </a:r>
            <a:r>
              <a:rPr lang="en-US" sz="54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 </a:t>
            </a:r>
            <a:r>
              <a:rPr lang="en-US" sz="5400" b="1" dirty="0" err="1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tài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pic>
        <p:nvPicPr>
          <p:cNvPr id="2050" name="Picture 2" descr="Biểu Đồ Tăng Trưởng Vector Icon Minh Họa Hình minh họa Sẵn có - Tải xuống  Hình ảnh Ngay bây giờ - Biểu đồ - Phương tiện nhìn, Biểu đồ thanh, Biểu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40" y="1533596"/>
            <a:ext cx="1521275" cy="1521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Text 13"/>
          <p:cNvSpPr/>
          <p:nvPr/>
        </p:nvSpPr>
        <p:spPr>
          <a:xfrm>
            <a:off x="2301001" y="1714748"/>
            <a:ext cx="7014449" cy="1158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n-US" sz="2800" dirty="0" err="1">
                <a:latin typeface="Bahnschrift SemiBold Condensed" panose="020B0502040204020203" pitchFamily="34" charset="0"/>
              </a:rPr>
              <a:t>Số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lượng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thí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sinh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tham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gia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kỳ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thi</a:t>
            </a:r>
            <a:r>
              <a:rPr lang="en-US" sz="2800" dirty="0">
                <a:latin typeface="Bahnschrift SemiBold Condensed" panose="020B0502040204020203" pitchFamily="34" charset="0"/>
              </a:rPr>
              <a:t> Olympic </a:t>
            </a:r>
            <a:r>
              <a:rPr lang="en-US" sz="2800" dirty="0" err="1">
                <a:latin typeface="Bahnschrift SemiBold Condensed" panose="020B0502040204020203" pitchFamily="34" charset="0"/>
              </a:rPr>
              <a:t>tăng</a:t>
            </a:r>
            <a:r>
              <a:rPr lang="en-US" sz="2800" dirty="0">
                <a:latin typeface="Bahnschrift SemiBold Condensed" panose="020B0502040204020203" pitchFamily="34" charset="0"/>
              </a:rPr>
              <a:t> qua </a:t>
            </a:r>
            <a:r>
              <a:rPr lang="en-US" sz="2800" dirty="0" err="1">
                <a:latin typeface="Bahnschrift SemiBold Condensed" panose="020B0502040204020203" pitchFamily="34" charset="0"/>
              </a:rPr>
              <a:t>các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năm</a:t>
            </a:r>
            <a:r>
              <a:rPr lang="en-US" sz="2800" dirty="0">
                <a:latin typeface="Bahnschrift SemiBold Condensed" panose="020B0502040204020203" pitchFamily="34" charset="0"/>
              </a:rPr>
              <a:t>.</a:t>
            </a:r>
          </a:p>
          <a:p>
            <a:pPr algn="just">
              <a:lnSpc>
                <a:spcPts val="2850"/>
              </a:lnSpc>
            </a:pP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cách</a:t>
            </a:r>
            <a:r>
              <a:rPr lang="en-US" sz="2000" dirty="0"/>
              <a:t> </a:t>
            </a:r>
            <a:r>
              <a:rPr lang="en-US" sz="2000" dirty="0" err="1"/>
              <a:t>thủ</a:t>
            </a:r>
            <a:r>
              <a:rPr lang="en-US" sz="2000" dirty="0"/>
              <a:t> </a:t>
            </a:r>
            <a:r>
              <a:rPr lang="en-US" sz="2000" dirty="0" err="1"/>
              <a:t>công</a:t>
            </a:r>
            <a:r>
              <a:rPr lang="en-US" sz="2000" dirty="0"/>
              <a:t> </a:t>
            </a:r>
            <a:r>
              <a:rPr lang="en-US" sz="2000" dirty="0" err="1"/>
              <a:t>hoặc</a:t>
            </a:r>
            <a:r>
              <a:rPr lang="en-US" sz="2000" dirty="0"/>
              <a:t> </a:t>
            </a:r>
            <a:r>
              <a:rPr lang="en-US" sz="2000" dirty="0" err="1"/>
              <a:t>sử</a:t>
            </a:r>
            <a:r>
              <a:rPr lang="en-US" sz="2000" dirty="0"/>
              <a:t> </a:t>
            </a:r>
            <a:r>
              <a:rPr lang="en-US" sz="2000" dirty="0" err="1"/>
              <a:t>dụng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cấu</a:t>
            </a:r>
            <a:r>
              <a:rPr lang="en-US" sz="2000" dirty="0"/>
              <a:t> </a:t>
            </a:r>
            <a:r>
              <a:rPr lang="en-US" sz="2000" dirty="0" err="1"/>
              <a:t>trúc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đơn</a:t>
            </a:r>
            <a:r>
              <a:rPr lang="en-US" sz="2000" dirty="0"/>
              <a:t> </a:t>
            </a:r>
            <a:r>
              <a:rPr lang="en-US" sz="2000" dirty="0" err="1"/>
              <a:t>giản</a:t>
            </a:r>
            <a:r>
              <a:rPr lang="en-US" sz="2000" dirty="0"/>
              <a:t> </a:t>
            </a:r>
          </a:p>
          <a:p>
            <a:pPr algn="just">
              <a:lnSpc>
                <a:spcPts val="2850"/>
              </a:lnSpc>
            </a:pPr>
            <a:r>
              <a:rPr lang="en-US" sz="2000" dirty="0" err="1"/>
              <a:t>chưa</a:t>
            </a:r>
            <a:r>
              <a:rPr lang="en-US" sz="2000" dirty="0"/>
              <a:t> </a:t>
            </a:r>
            <a:r>
              <a:rPr lang="en-US" sz="2000" dirty="0" err="1"/>
              <a:t>đáp</a:t>
            </a:r>
            <a:r>
              <a:rPr lang="en-US" sz="2000" dirty="0"/>
              <a:t> </a:t>
            </a:r>
            <a:r>
              <a:rPr lang="en-US" sz="2000" dirty="0" err="1"/>
              <a:t>ứng</a:t>
            </a:r>
            <a:r>
              <a:rPr lang="en-US" sz="2000" dirty="0"/>
              <a:t> </a:t>
            </a:r>
            <a:r>
              <a:rPr lang="en-US" sz="2000" dirty="0" err="1"/>
              <a:t>tốt</a:t>
            </a:r>
            <a:r>
              <a:rPr lang="en-US" sz="2000" dirty="0"/>
              <a:t> </a:t>
            </a:r>
            <a:r>
              <a:rPr lang="en-US" sz="2000" dirty="0" err="1"/>
              <a:t>yêu</a:t>
            </a:r>
            <a:r>
              <a:rPr lang="en-US" sz="2000" dirty="0"/>
              <a:t> </a:t>
            </a:r>
            <a:r>
              <a:rPr lang="en-US" sz="2000" dirty="0" err="1"/>
              <a:t>cầu</a:t>
            </a:r>
            <a:r>
              <a:rPr lang="en-US" sz="2000" dirty="0"/>
              <a:t> </a:t>
            </a:r>
            <a:r>
              <a:rPr lang="en-US" sz="2000" dirty="0" err="1"/>
              <a:t>cập</a:t>
            </a:r>
            <a:r>
              <a:rPr lang="en-US" sz="2000" dirty="0"/>
              <a:t> </a:t>
            </a:r>
            <a:r>
              <a:rPr lang="en-US" sz="2000" dirty="0" err="1"/>
              <a:t>nhật</a:t>
            </a:r>
            <a:r>
              <a:rPr lang="en-US" sz="2000" dirty="0"/>
              <a:t>, </a:t>
            </a:r>
            <a:r>
              <a:rPr lang="en-US" sz="2000" dirty="0" err="1"/>
              <a:t>tra</a:t>
            </a:r>
            <a:r>
              <a:rPr lang="en-US" sz="2000" dirty="0"/>
              <a:t> </a:t>
            </a:r>
            <a:r>
              <a:rPr lang="en-US" sz="2000" dirty="0" err="1"/>
              <a:t>cứu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xử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nhanh</a:t>
            </a:r>
            <a:r>
              <a:rPr lang="en-US" sz="2000" dirty="0"/>
              <a:t> </a:t>
            </a:r>
            <a:r>
              <a:rPr lang="en-US" sz="2000" dirty="0" err="1"/>
              <a:t>chóng</a:t>
            </a:r>
            <a:r>
              <a:rPr lang="en-US" sz="2000" dirty="0"/>
              <a:t>.</a:t>
            </a:r>
            <a:endParaRPr lang="en-US" sz="2400" dirty="0">
              <a:latin typeface="Bahnschrift SemiBold Condensed" panose="020B0502040204020203" pitchFamily="34" charset="0"/>
            </a:endParaRPr>
          </a:p>
        </p:txBody>
      </p:sp>
      <p:pic>
        <p:nvPicPr>
          <p:cNvPr id="2052" name="Picture 4" descr="đèn, bóng đèn, ý tưởng, suy nghĩ, ánh sáng, biểu tượng, thông tin, thông  tin, kiến ​​thức, png | PNGEg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739" y="3837074"/>
            <a:ext cx="1287476" cy="12874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Text 13"/>
          <p:cNvSpPr/>
          <p:nvPr/>
        </p:nvSpPr>
        <p:spPr>
          <a:xfrm>
            <a:off x="2301001" y="3901327"/>
            <a:ext cx="8024099" cy="1158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n-US" sz="2800" dirty="0" err="1">
                <a:latin typeface="Bahnschrift SemiBold Condensed" panose="020B0502040204020203" pitchFamily="34" charset="0"/>
              </a:rPr>
              <a:t>Đề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tài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giúp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gắn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kiến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thức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đã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học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với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một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bài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toán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thực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tế</a:t>
            </a:r>
            <a:endParaRPr lang="en-US" sz="2800" dirty="0">
              <a:latin typeface="Bahnschrift SemiBold Condensed" panose="020B0502040204020203" pitchFamily="34" charset="0"/>
            </a:endParaRPr>
          </a:p>
          <a:p>
            <a:pPr algn="just">
              <a:lnSpc>
                <a:spcPts val="2850"/>
              </a:lnSpc>
            </a:pPr>
            <a:r>
              <a:rPr lang="en-US" sz="2000" dirty="0" err="1"/>
              <a:t>Danh</a:t>
            </a:r>
            <a:r>
              <a:rPr lang="en-US" sz="2000" dirty="0"/>
              <a:t> </a:t>
            </a:r>
            <a:r>
              <a:rPr lang="en-US" sz="2000" dirty="0" err="1"/>
              <a:t>sách</a:t>
            </a:r>
            <a:r>
              <a:rPr lang="en-US" sz="2000" dirty="0"/>
              <a:t> </a:t>
            </a:r>
            <a:r>
              <a:rPr lang="en-US" sz="2000" dirty="0" err="1"/>
              <a:t>liên</a:t>
            </a:r>
            <a:r>
              <a:rPr lang="en-US" sz="2000" dirty="0"/>
              <a:t> </a:t>
            </a:r>
            <a:r>
              <a:rPr lang="en-US" sz="2000" dirty="0" err="1"/>
              <a:t>kết</a:t>
            </a:r>
            <a:r>
              <a:rPr lang="en-US" sz="2000" dirty="0"/>
              <a:t> </a:t>
            </a:r>
            <a:r>
              <a:rPr lang="en-US" sz="2000" dirty="0" err="1"/>
              <a:t>kép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</a:t>
            </a:r>
            <a:r>
              <a:rPr lang="en-US" sz="2000" dirty="0" err="1"/>
              <a:t>một</a:t>
            </a:r>
            <a:r>
              <a:rPr lang="en-US" sz="2000" dirty="0"/>
              <a:t> </a:t>
            </a:r>
            <a:r>
              <a:rPr lang="en-US" sz="2000" dirty="0" err="1"/>
              <a:t>cấu</a:t>
            </a:r>
            <a:r>
              <a:rPr lang="en-US" sz="2000" dirty="0"/>
              <a:t> </a:t>
            </a:r>
            <a:r>
              <a:rPr lang="en-US" sz="2000" dirty="0" err="1"/>
              <a:t>trúc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quan</a:t>
            </a:r>
            <a:r>
              <a:rPr lang="en-US" sz="2000" dirty="0"/>
              <a:t> </a:t>
            </a:r>
            <a:r>
              <a:rPr lang="en-US" sz="2000" dirty="0" err="1"/>
              <a:t>trọng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môn</a:t>
            </a:r>
            <a:r>
              <a:rPr lang="en-US" sz="2000" dirty="0"/>
              <a:t> </a:t>
            </a:r>
            <a:r>
              <a:rPr lang="en-US" sz="2000" dirty="0" err="1"/>
              <a:t>Cấu</a:t>
            </a:r>
            <a:r>
              <a:rPr lang="en-US" sz="2000" dirty="0"/>
              <a:t> </a:t>
            </a:r>
            <a:r>
              <a:rPr lang="en-US" sz="2000" dirty="0" err="1"/>
              <a:t>trúc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endParaRPr lang="en-US" sz="2000" dirty="0"/>
          </a:p>
          <a:p>
            <a:pPr algn="just">
              <a:lnSpc>
                <a:spcPts val="2850"/>
              </a:lnSpc>
            </a:pP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Giải</a:t>
            </a:r>
            <a:r>
              <a:rPr lang="en-US" sz="2000" dirty="0"/>
              <a:t> </a:t>
            </a:r>
            <a:r>
              <a:rPr lang="en-US" sz="2000" dirty="0" err="1"/>
              <a:t>thuật</a:t>
            </a:r>
            <a:r>
              <a:rPr lang="en-US" sz="2000" dirty="0"/>
              <a:t>,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nhiều</a:t>
            </a:r>
            <a:r>
              <a:rPr lang="en-US" sz="2000" dirty="0"/>
              <a:t> </a:t>
            </a:r>
            <a:r>
              <a:rPr lang="en-US" sz="2000" dirty="0" err="1"/>
              <a:t>ưu</a:t>
            </a:r>
            <a:r>
              <a:rPr lang="en-US" sz="2000" dirty="0"/>
              <a:t> </a:t>
            </a:r>
            <a:r>
              <a:rPr lang="en-US" sz="2000" dirty="0" err="1"/>
              <a:t>điểm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việc</a:t>
            </a:r>
            <a:r>
              <a:rPr lang="en-US" sz="2000" dirty="0"/>
              <a:t> </a:t>
            </a:r>
            <a:r>
              <a:rPr lang="en-US" sz="2000" dirty="0" err="1"/>
              <a:t>chèn</a:t>
            </a:r>
            <a:r>
              <a:rPr lang="en-US" sz="2000" dirty="0"/>
              <a:t>, </a:t>
            </a:r>
            <a:r>
              <a:rPr lang="en-US" sz="2000" dirty="0" err="1"/>
              <a:t>xóa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duyệt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theo</a:t>
            </a:r>
            <a:r>
              <a:rPr lang="en-US" sz="2000" dirty="0"/>
              <a:t> </a:t>
            </a:r>
            <a:r>
              <a:rPr lang="en-US" sz="2000" dirty="0" err="1"/>
              <a:t>hai</a:t>
            </a:r>
            <a:r>
              <a:rPr lang="en-US" sz="2000" dirty="0"/>
              <a:t> </a:t>
            </a:r>
            <a:r>
              <a:rPr lang="en-US" sz="2000" dirty="0" err="1"/>
              <a:t>chiều</a:t>
            </a:r>
            <a:endParaRPr lang="en-US" sz="2400" dirty="0">
              <a:latin typeface="Bahnschrift SemiBold Condensed" panose="020B0502040204020203" pitchFamily="34" charset="0"/>
            </a:endParaRPr>
          </a:p>
        </p:txBody>
      </p:sp>
      <p:pic>
        <p:nvPicPr>
          <p:cNvPr id="2054" name="Picture 6" descr="Thực Tiễn Thực Tế Hình minh họa Sẵn có - Tải xuống Hình ảnh Ngay bây giờ -  Biểu trưng - Biểu tượng, Biểu tượng - Ký hiệu chữ viết, Biểu tượng -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1840" y="6067388"/>
            <a:ext cx="1539875" cy="1539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3" name="Text 13"/>
          <p:cNvSpPr/>
          <p:nvPr/>
        </p:nvSpPr>
        <p:spPr>
          <a:xfrm>
            <a:off x="2301000" y="6257840"/>
            <a:ext cx="8538450" cy="11589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ts val="2850"/>
              </a:lnSpc>
            </a:pPr>
            <a:r>
              <a:rPr lang="en-US" sz="2800" dirty="0">
                <a:latin typeface="Bahnschrift SemiBold Condensed" panose="020B0502040204020203" pitchFamily="34" charset="0"/>
              </a:rPr>
              <a:t>Ý </a:t>
            </a:r>
            <a:r>
              <a:rPr lang="en-US" sz="2800" dirty="0" err="1">
                <a:latin typeface="Bahnschrift SemiBold Condensed" panose="020B0502040204020203" pitchFamily="34" charset="0"/>
              </a:rPr>
              <a:t>nghĩa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học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thuật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và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thực</a:t>
            </a:r>
            <a:r>
              <a:rPr lang="en-US" sz="2800" dirty="0">
                <a:latin typeface="Bahnschrift SemiBold Condensed" panose="020B0502040204020203" pitchFamily="34" charset="0"/>
              </a:rPr>
              <a:t> </a:t>
            </a:r>
            <a:r>
              <a:rPr lang="en-US" sz="2800" dirty="0" err="1">
                <a:latin typeface="Bahnschrift SemiBold Condensed" panose="020B0502040204020203" pitchFamily="34" charset="0"/>
              </a:rPr>
              <a:t>tiễn</a:t>
            </a:r>
            <a:endParaRPr lang="en-US" sz="2800" dirty="0">
              <a:latin typeface="Bahnschrift SemiBold Condensed" panose="020B0502040204020203" pitchFamily="34" charset="0"/>
            </a:endParaRPr>
          </a:p>
          <a:p>
            <a:r>
              <a:rPr lang="en-US" sz="2000" dirty="0" err="1"/>
              <a:t>Giúp</a:t>
            </a:r>
            <a:r>
              <a:rPr lang="en-US" sz="2000" dirty="0"/>
              <a:t> </a:t>
            </a:r>
            <a:r>
              <a:rPr lang="en-US" sz="2000" dirty="0" err="1"/>
              <a:t>rèn</a:t>
            </a:r>
            <a:r>
              <a:rPr lang="en-US" sz="2000" dirty="0"/>
              <a:t> </a:t>
            </a:r>
            <a:r>
              <a:rPr lang="en-US" sz="2000" dirty="0" err="1"/>
              <a:t>luyện</a:t>
            </a:r>
            <a:r>
              <a:rPr lang="en-US" sz="2000" dirty="0"/>
              <a:t> </a:t>
            </a:r>
            <a:r>
              <a:rPr lang="en-US" sz="2000" dirty="0" err="1"/>
              <a:t>kỹ</a:t>
            </a:r>
            <a:r>
              <a:rPr lang="en-US" sz="2000" dirty="0"/>
              <a:t> </a:t>
            </a:r>
            <a:r>
              <a:rPr lang="en-US" sz="2000" dirty="0" err="1"/>
              <a:t>năng</a:t>
            </a:r>
            <a:r>
              <a:rPr lang="en-US" sz="2000" dirty="0"/>
              <a:t> </a:t>
            </a:r>
            <a:r>
              <a:rPr lang="en-US" sz="2000" dirty="0" err="1"/>
              <a:t>phân</a:t>
            </a:r>
            <a:r>
              <a:rPr lang="en-US" sz="2000" dirty="0"/>
              <a:t> </a:t>
            </a:r>
            <a:r>
              <a:rPr lang="en-US" sz="2000" dirty="0" err="1"/>
              <a:t>tích</a:t>
            </a:r>
            <a:r>
              <a:rPr lang="en-US" sz="2000" dirty="0"/>
              <a:t>, </a:t>
            </a:r>
            <a:r>
              <a:rPr lang="en-US" sz="2000" dirty="0" err="1"/>
              <a:t>thiết</a:t>
            </a:r>
            <a:r>
              <a:rPr lang="en-US" sz="2000" dirty="0"/>
              <a:t> </a:t>
            </a:r>
            <a:r>
              <a:rPr lang="en-US" sz="2000" dirty="0" err="1"/>
              <a:t>kế</a:t>
            </a:r>
            <a:r>
              <a:rPr lang="en-US" sz="2000" dirty="0"/>
              <a:t> </a:t>
            </a:r>
            <a:r>
              <a:rPr lang="en-US" sz="2000" dirty="0" err="1"/>
              <a:t>chương</a:t>
            </a:r>
            <a:r>
              <a:rPr lang="en-US" sz="2000" dirty="0"/>
              <a:t> </a:t>
            </a:r>
            <a:r>
              <a:rPr lang="en-US" sz="2000" dirty="0" err="1"/>
              <a:t>trình</a:t>
            </a:r>
            <a:r>
              <a:rPr lang="en-US" sz="2000" dirty="0"/>
              <a:t>, </a:t>
            </a:r>
            <a:r>
              <a:rPr lang="en-US" sz="2000" dirty="0" err="1"/>
              <a:t>đồng</a:t>
            </a:r>
            <a:r>
              <a:rPr lang="en-US" sz="2000" dirty="0"/>
              <a:t> </a:t>
            </a:r>
            <a:r>
              <a:rPr lang="en-US" sz="2000" dirty="0" err="1"/>
              <a:t>thời</a:t>
            </a:r>
            <a:r>
              <a:rPr lang="en-US" sz="2000" dirty="0"/>
              <a:t> </a:t>
            </a:r>
            <a:r>
              <a:rPr lang="en-US" sz="2000" dirty="0" err="1"/>
              <a:t>tạo</a:t>
            </a:r>
            <a:r>
              <a:rPr lang="en-US" sz="2000" dirty="0"/>
              <a:t> </a:t>
            </a:r>
            <a:r>
              <a:rPr lang="en-US" sz="2000" dirty="0" err="1"/>
              <a:t>nền</a:t>
            </a:r>
            <a:r>
              <a:rPr lang="en-US" sz="2000" dirty="0"/>
              <a:t> </a:t>
            </a:r>
            <a:r>
              <a:rPr lang="en-US" sz="2000" dirty="0" err="1"/>
              <a:t>tảng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endParaRPr lang="en-US" sz="2000" dirty="0"/>
          </a:p>
          <a:p>
            <a:r>
              <a:rPr lang="en-US" sz="2000" dirty="0"/>
              <a:t> </a:t>
            </a:r>
            <a:r>
              <a:rPr lang="en-US" sz="2000" dirty="0" err="1"/>
              <a:t>mở</a:t>
            </a:r>
            <a:r>
              <a:rPr lang="en-US" sz="2000" dirty="0"/>
              <a:t> </a:t>
            </a:r>
            <a:r>
              <a:rPr lang="en-US" sz="2000" dirty="0" err="1"/>
              <a:t>rộng</a:t>
            </a:r>
            <a:r>
              <a:rPr lang="en-US" sz="2000" dirty="0"/>
              <a:t> </a:t>
            </a:r>
            <a:r>
              <a:rPr lang="en-US" sz="2000" dirty="0" err="1"/>
              <a:t>và</a:t>
            </a:r>
            <a:r>
              <a:rPr lang="en-US" sz="2000" dirty="0"/>
              <a:t> </a:t>
            </a:r>
            <a:r>
              <a:rPr lang="en-US" sz="2000" dirty="0" err="1"/>
              <a:t>phát</a:t>
            </a:r>
            <a:r>
              <a:rPr lang="en-US" sz="2000" dirty="0"/>
              <a:t> </a:t>
            </a:r>
            <a:r>
              <a:rPr lang="en-US" sz="2000" dirty="0" err="1"/>
              <a:t>triển</a:t>
            </a:r>
            <a:r>
              <a:rPr lang="en-US" sz="2000" dirty="0"/>
              <a:t> </a:t>
            </a:r>
            <a:r>
              <a:rPr lang="en-US" sz="2000" dirty="0" err="1"/>
              <a:t>các</a:t>
            </a:r>
            <a:r>
              <a:rPr lang="en-US" sz="2000" dirty="0"/>
              <a:t> </a:t>
            </a:r>
            <a:r>
              <a:rPr lang="en-US" sz="2000" dirty="0" err="1"/>
              <a:t>hệ</a:t>
            </a:r>
            <a:r>
              <a:rPr lang="en-US" sz="2000" dirty="0"/>
              <a:t> </a:t>
            </a:r>
            <a:r>
              <a:rPr lang="en-US" sz="2000" dirty="0" err="1"/>
              <a:t>thống</a:t>
            </a:r>
            <a:r>
              <a:rPr lang="en-US" sz="2000" dirty="0"/>
              <a:t> </a:t>
            </a:r>
            <a:r>
              <a:rPr lang="en-US" sz="2000" dirty="0" err="1"/>
              <a:t>quản</a:t>
            </a:r>
            <a:r>
              <a:rPr lang="en-US" sz="2000" dirty="0"/>
              <a:t> </a:t>
            </a:r>
            <a:r>
              <a:rPr lang="en-US" sz="2000" dirty="0" err="1"/>
              <a:t>lý</a:t>
            </a:r>
            <a:r>
              <a:rPr lang="en-US" sz="2000" dirty="0"/>
              <a:t> </a:t>
            </a:r>
            <a:r>
              <a:rPr lang="en-US" sz="2000" dirty="0" err="1"/>
              <a:t>dữ</a:t>
            </a:r>
            <a:r>
              <a:rPr lang="en-US" sz="2000" dirty="0"/>
              <a:t> </a:t>
            </a:r>
            <a:r>
              <a:rPr lang="en-US" sz="2000" dirty="0" err="1"/>
              <a:t>liệu</a:t>
            </a:r>
            <a:r>
              <a:rPr lang="en-US" sz="2000" dirty="0"/>
              <a:t> </a:t>
            </a:r>
            <a:r>
              <a:rPr lang="en-US" sz="2000" dirty="0" err="1"/>
              <a:t>phức</a:t>
            </a:r>
            <a:r>
              <a:rPr lang="en-US" sz="2000" dirty="0"/>
              <a:t> </a:t>
            </a:r>
            <a:r>
              <a:rPr lang="en-US" sz="2000" dirty="0" err="1"/>
              <a:t>tạp</a:t>
            </a:r>
            <a:r>
              <a:rPr lang="en-US" sz="2000" dirty="0"/>
              <a:t> </a:t>
            </a:r>
            <a:r>
              <a:rPr lang="en-US" sz="2000" dirty="0" err="1"/>
              <a:t>hơn</a:t>
            </a:r>
            <a:r>
              <a:rPr lang="en-US" sz="2000" dirty="0"/>
              <a:t> </a:t>
            </a:r>
            <a:r>
              <a:rPr lang="en-US" sz="2000" dirty="0" err="1"/>
              <a:t>trong</a:t>
            </a:r>
            <a:r>
              <a:rPr lang="en-US" sz="2000" dirty="0"/>
              <a:t> </a:t>
            </a:r>
            <a:r>
              <a:rPr lang="en-US" sz="2000" dirty="0" err="1"/>
              <a:t>tương</a:t>
            </a:r>
            <a:r>
              <a:rPr lang="en-US" sz="2000" dirty="0"/>
              <a:t> </a:t>
            </a:r>
            <a:r>
              <a:rPr lang="en-US" sz="2000" dirty="0" err="1"/>
              <a:t>lai</a:t>
            </a:r>
            <a:r>
              <a:rPr lang="en-US" sz="2000" dirty="0"/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20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1" grpId="0" animBg="1"/>
      <p:bldP spid="2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287" y="7593916"/>
            <a:ext cx="2585113" cy="635684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400" y="7607263"/>
            <a:ext cx="2032000" cy="533474"/>
          </a:xfrm>
          <a:prstGeom prst="rect">
            <a:avLst/>
          </a:prstGeom>
        </p:spPr>
      </p:pic>
      <p:sp>
        <p:nvSpPr>
          <p:cNvPr id="24" name="Right Triangle 23"/>
          <p:cNvSpPr/>
          <p:nvPr/>
        </p:nvSpPr>
        <p:spPr>
          <a:xfrm rot="10800000">
            <a:off x="8591549" y="-2"/>
            <a:ext cx="6038852" cy="8140739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0"/>
          <p:cNvSpPr/>
          <p:nvPr/>
        </p:nvSpPr>
        <p:spPr>
          <a:xfrm>
            <a:off x="431839" y="518576"/>
            <a:ext cx="65108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2. </a:t>
            </a:r>
            <a:r>
              <a:rPr lang="en-US" sz="5400" b="1" dirty="0" err="1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Đối</a:t>
            </a:r>
            <a:r>
              <a:rPr lang="en-US" sz="54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 </a:t>
            </a:r>
            <a:r>
              <a:rPr lang="en-US" sz="5400" b="1" dirty="0" err="1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tượng</a:t>
            </a:r>
            <a:r>
              <a:rPr lang="en-US" sz="54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 </a:t>
            </a:r>
            <a:r>
              <a:rPr lang="en-US" sz="5400" b="1" dirty="0" err="1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nghiên</a:t>
            </a:r>
            <a:r>
              <a:rPr lang="en-US" sz="54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 </a:t>
            </a:r>
            <a:r>
              <a:rPr lang="en-US" sz="5400" b="1" dirty="0" err="1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cứu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32" name="Freeform 8"/>
          <p:cNvSpPr/>
          <p:nvPr/>
        </p:nvSpPr>
        <p:spPr>
          <a:xfrm>
            <a:off x="431839" y="1672517"/>
            <a:ext cx="10045661" cy="2734511"/>
          </a:xfrm>
          <a:custGeom>
            <a:avLst/>
            <a:gdLst/>
            <a:ahLst/>
            <a:cxnLst/>
            <a:rect l="l" t="t" r="r" b="b"/>
            <a:pathLst>
              <a:path w="11301259" h="2005973">
                <a:moveTo>
                  <a:pt x="0" y="0"/>
                </a:moveTo>
                <a:lnTo>
                  <a:pt x="11301259" y="0"/>
                </a:lnTo>
                <a:lnTo>
                  <a:pt x="11301259" y="2005973"/>
                </a:lnTo>
                <a:lnTo>
                  <a:pt x="0" y="2005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chemeClr val="tx1">
                <a:lumMod val="95000"/>
                <a:lumOff val="5000"/>
              </a:schemeClr>
            </a:solidFill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3" name="Text 13"/>
          <p:cNvSpPr/>
          <p:nvPr/>
        </p:nvSpPr>
        <p:spPr>
          <a:xfrm>
            <a:off x="813969" y="1976589"/>
            <a:ext cx="10120731" cy="2347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just">
              <a:lnSpc>
                <a:spcPct val="150000"/>
              </a:lnSpc>
            </a:pPr>
            <a:r>
              <a:rPr lang="en-US" sz="3200" dirty="0" err="1">
                <a:latin typeface="Bahnschrift SemiLight SemiConde" panose="020B0502040204020203" pitchFamily="34" charset="0"/>
              </a:rPr>
              <a:t>Danh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liên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kép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và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việc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ứng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dụng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cấu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trúc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</a:p>
          <a:p>
            <a:pPr algn="just">
              <a:lnSpc>
                <a:spcPct val="150000"/>
              </a:lnSpc>
            </a:pPr>
            <a:r>
              <a:rPr lang="en-US" sz="3200" dirty="0" err="1">
                <a:latin typeface="Bahnschrift SemiLight SemiConde" panose="020B0502040204020203" pitchFamily="34" charset="0"/>
              </a:rPr>
              <a:t>này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trong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chương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trình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quản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lý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kỳ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thi</a:t>
            </a:r>
            <a:r>
              <a:rPr lang="en-US" sz="3200" dirty="0">
                <a:latin typeface="Bahnschrift SemiLight SemiConde" panose="020B0502040204020203" pitchFamily="34" charset="0"/>
              </a:rPr>
              <a:t> Olympic</a:t>
            </a:r>
          </a:p>
          <a:p>
            <a:pPr algn="just">
              <a:lnSpc>
                <a:spcPct val="150000"/>
              </a:lnSpc>
            </a:pPr>
            <a:r>
              <a:rPr lang="en-US" sz="3200" dirty="0">
                <a:latin typeface="Bahnschrift SemiLight SemiConde" panose="020B0502040204020203" pitchFamily="34" charset="0"/>
              </a:rPr>
              <a:t> Tin </a:t>
            </a:r>
            <a:r>
              <a:rPr lang="en-US" sz="3200" dirty="0" err="1">
                <a:latin typeface="Bahnschrift SemiLight SemiConde" panose="020B0502040204020203" pitchFamily="34" charset="0"/>
              </a:rPr>
              <a:t>học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viên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Trường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Đại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học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Trà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Vinh</a:t>
            </a:r>
            <a:r>
              <a:rPr lang="en-US" sz="3200" dirty="0">
                <a:latin typeface="Bahnschrift SemiLight SemiConde" panose="020B0502040204020203" pitchFamily="34" charset="0"/>
              </a:rPr>
              <a:t> (TVU). </a:t>
            </a:r>
            <a:endParaRPr lang="en-US" sz="4000" dirty="0">
              <a:latin typeface="Bahnschrift SemiLight SemiConde" panose="020B0502040204020203" pitchFamily="34" charset="0"/>
            </a:endParaRPr>
          </a:p>
        </p:txBody>
      </p:sp>
      <p:sp>
        <p:nvSpPr>
          <p:cNvPr id="34" name="Freeform 8"/>
          <p:cNvSpPr/>
          <p:nvPr/>
        </p:nvSpPr>
        <p:spPr>
          <a:xfrm>
            <a:off x="431839" y="4955926"/>
            <a:ext cx="10045661" cy="2734511"/>
          </a:xfrm>
          <a:custGeom>
            <a:avLst/>
            <a:gdLst/>
            <a:ahLst/>
            <a:cxnLst/>
            <a:rect l="l" t="t" r="r" b="b"/>
            <a:pathLst>
              <a:path w="11301259" h="2005973">
                <a:moveTo>
                  <a:pt x="0" y="0"/>
                </a:moveTo>
                <a:lnTo>
                  <a:pt x="11301259" y="0"/>
                </a:lnTo>
                <a:lnTo>
                  <a:pt x="11301259" y="2005973"/>
                </a:lnTo>
                <a:lnTo>
                  <a:pt x="0" y="200597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  <p:txBody>
          <a:bodyPr/>
          <a:lstStyle/>
          <a:p>
            <a:endParaRPr lang="en-US" dirty="0"/>
          </a:p>
        </p:txBody>
      </p:sp>
      <p:sp>
        <p:nvSpPr>
          <p:cNvPr id="35" name="Text 13"/>
          <p:cNvSpPr/>
          <p:nvPr/>
        </p:nvSpPr>
        <p:spPr>
          <a:xfrm>
            <a:off x="813969" y="5190277"/>
            <a:ext cx="9854031" cy="23477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3200" dirty="0" err="1">
                <a:latin typeface="Bahnschrift SemiLight SemiConde" panose="020B0502040204020203" pitchFamily="34" charset="0"/>
              </a:rPr>
              <a:t>Nghiên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cứu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cách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tổ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chức</a:t>
            </a:r>
            <a:r>
              <a:rPr lang="en-US" sz="3200" dirty="0">
                <a:latin typeface="Bahnschrift SemiLight SemiConde" panose="020B0502040204020203" pitchFamily="34" charset="0"/>
              </a:rPr>
              <a:t>, </a:t>
            </a:r>
            <a:r>
              <a:rPr lang="en-US" sz="3200" dirty="0" err="1">
                <a:latin typeface="Bahnschrift SemiLight SemiConde" panose="020B0502040204020203" pitchFamily="34" charset="0"/>
              </a:rPr>
              <a:t>lưu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trữ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và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xử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lý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thông</a:t>
            </a:r>
            <a:r>
              <a:rPr lang="en-US" sz="3200" dirty="0">
                <a:latin typeface="Bahnschrift SemiLight SemiConde" panose="020B0502040204020203" pitchFamily="34" charset="0"/>
              </a:rPr>
              <a:t> tin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thí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sinh</a:t>
            </a:r>
            <a:endParaRPr lang="en-US" sz="3200" dirty="0">
              <a:latin typeface="Bahnschrift SemiLight SemiConde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thi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thông</a:t>
            </a:r>
            <a:r>
              <a:rPr lang="en-US" sz="3200" dirty="0">
                <a:latin typeface="Bahnschrift SemiLight SemiConde" panose="020B0502040204020203" pitchFamily="34" charset="0"/>
              </a:rPr>
              <a:t> qua </a:t>
            </a:r>
            <a:r>
              <a:rPr lang="en-US" sz="32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thao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tác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cơ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bản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trên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danh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liên</a:t>
            </a:r>
            <a:endParaRPr lang="en-US" sz="3200" dirty="0">
              <a:latin typeface="Bahnschrift SemiLight SemiConde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32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kép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như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thêm</a:t>
            </a:r>
            <a:r>
              <a:rPr lang="en-US" sz="3200" dirty="0">
                <a:latin typeface="Bahnschrift SemiLight SemiConde" panose="020B0502040204020203" pitchFamily="34" charset="0"/>
              </a:rPr>
              <a:t>, </a:t>
            </a:r>
            <a:r>
              <a:rPr lang="en-US" sz="3200" dirty="0" err="1">
                <a:latin typeface="Bahnschrift SemiLight SemiConde" panose="020B0502040204020203" pitchFamily="34" charset="0"/>
              </a:rPr>
              <a:t>tìm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kiếm</a:t>
            </a:r>
            <a:r>
              <a:rPr lang="en-US" sz="3200" dirty="0">
                <a:latin typeface="Bahnschrift SemiLight SemiConde" panose="020B0502040204020203" pitchFamily="34" charset="0"/>
              </a:rPr>
              <a:t>, </a:t>
            </a:r>
            <a:r>
              <a:rPr lang="en-US" sz="3200" dirty="0" err="1">
                <a:latin typeface="Bahnschrift SemiLight SemiConde" panose="020B0502040204020203" pitchFamily="34" charset="0"/>
              </a:rPr>
              <a:t>sắp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xếp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và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duyệt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3200" dirty="0">
                <a:latin typeface="Bahnschrift SemiLight SemiConde" panose="020B0502040204020203" pitchFamily="34" charset="0"/>
              </a:rPr>
              <a:t> </a:t>
            </a:r>
            <a:r>
              <a:rPr lang="en-US" sz="32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3200" dirty="0">
                <a:latin typeface="Bahnschrift SemiLight SemiConde" panose="020B05020402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96046946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0" y="7607263"/>
            <a:ext cx="2032000" cy="53347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31839" y="518576"/>
            <a:ext cx="51498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3. </a:t>
            </a:r>
            <a:r>
              <a:rPr lang="en-US" sz="5400" b="1" dirty="0" err="1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Mục</a:t>
            </a:r>
            <a:r>
              <a:rPr lang="en-US" sz="54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 </a:t>
            </a:r>
            <a:r>
              <a:rPr lang="en-US" sz="5400" b="1" dirty="0" err="1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tiêu</a:t>
            </a:r>
            <a:r>
              <a:rPr lang="en-US" sz="54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 </a:t>
            </a:r>
            <a:r>
              <a:rPr lang="en-US" sz="5400" b="1" dirty="0" err="1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nghiên</a:t>
            </a:r>
            <a:r>
              <a:rPr lang="en-US" sz="5400" b="1" dirty="0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 </a:t>
            </a:r>
            <a:r>
              <a:rPr lang="en-US" sz="5400" b="1" dirty="0" err="1">
                <a:solidFill>
                  <a:srgbClr val="101014"/>
                </a:solidFill>
                <a:latin typeface="Bahnschrift SemiBold Condensed" panose="020B0502040204020203" pitchFamily="34" charset="0"/>
                <a:ea typeface="Playfair Display Bold" pitchFamily="34" charset="-122"/>
              </a:rPr>
              <a:t>cứu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4" name="Right Triangle 3"/>
          <p:cNvSpPr/>
          <p:nvPr/>
        </p:nvSpPr>
        <p:spPr>
          <a:xfrm rot="10800000">
            <a:off x="8591549" y="-2"/>
            <a:ext cx="6038852" cy="8140739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6198A6ED-C26F-F68C-2D87-874E5279CEC5}"/>
              </a:ext>
            </a:extLst>
          </p:cNvPr>
          <p:cNvSpPr/>
          <p:nvPr/>
        </p:nvSpPr>
        <p:spPr>
          <a:xfrm>
            <a:off x="536953" y="1676099"/>
            <a:ext cx="9159705" cy="2021694"/>
          </a:xfrm>
          <a:prstGeom prst="roundRect">
            <a:avLst>
              <a:gd name="adj" fmla="val 2083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FDFB7B50-FF19-0D1F-79F7-93474BA751C9}"/>
              </a:ext>
            </a:extLst>
          </p:cNvPr>
          <p:cNvSpPr/>
          <p:nvPr/>
        </p:nvSpPr>
        <p:spPr>
          <a:xfrm>
            <a:off x="969514" y="1919638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 err="1">
                <a:solidFill>
                  <a:srgbClr val="FF0000"/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Tổng</a:t>
            </a:r>
            <a:r>
              <a:rPr lang="en-US" sz="3200" b="1" dirty="0">
                <a:solidFill>
                  <a:srgbClr val="FF0000"/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200" b="1" dirty="0" err="1">
                <a:solidFill>
                  <a:srgbClr val="FF0000"/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quát</a:t>
            </a:r>
            <a:endParaRPr lang="en-US" sz="3200" dirty="0">
              <a:solidFill>
                <a:srgbClr val="FF0000"/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2E02FF10-9B1A-0778-26F8-E3D045305307}"/>
              </a:ext>
            </a:extLst>
          </p:cNvPr>
          <p:cNvSpPr/>
          <p:nvPr/>
        </p:nvSpPr>
        <p:spPr>
          <a:xfrm>
            <a:off x="854109" y="2480446"/>
            <a:ext cx="8671728" cy="755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Bahnschrift SemiLight SemiConde" panose="020B0502040204020203" pitchFamily="34" charset="0"/>
              </a:rPr>
              <a:t>Xây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dựng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chương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trình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kỳ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thi</a:t>
            </a:r>
            <a:r>
              <a:rPr lang="en-US" sz="2400" dirty="0">
                <a:latin typeface="Bahnschrift SemiLight SemiConde" panose="020B0502040204020203" pitchFamily="34" charset="0"/>
              </a:rPr>
              <a:t> Olympic Tin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học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viên</a:t>
            </a:r>
            <a:r>
              <a:rPr lang="en-US" sz="2400" dirty="0">
                <a:latin typeface="Bahnschrift SemiLight SemiConde" panose="020B0502040204020203" pitchFamily="34" charset="0"/>
              </a:rPr>
              <a:t> Trường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Đại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học</a:t>
            </a:r>
            <a:r>
              <a:rPr lang="en-US" sz="2400" dirty="0">
                <a:latin typeface="Bahnschrift SemiLight SemiConde" panose="020B0502040204020203" pitchFamily="34" charset="0"/>
              </a:rPr>
              <a:t> Trà Vinh (TVU) </a:t>
            </a:r>
            <a:r>
              <a:rPr lang="en-US" sz="2400" dirty="0" err="1">
                <a:latin typeface="Bahnschrift SemiLight SemiConde" panose="020B0502040204020203" pitchFamily="34" charset="0"/>
              </a:rPr>
              <a:t>một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</a:t>
            </a:r>
            <a:r>
              <a:rPr lang="en-US" sz="2400" dirty="0">
                <a:latin typeface="Bahnschrift SemiLight SemiConde" panose="020B0502040204020203" pitchFamily="34" charset="0"/>
              </a:rPr>
              <a:t>.</a:t>
            </a:r>
            <a:endParaRPr lang="en-US" sz="2800" dirty="0">
              <a:latin typeface="Bahnschrift SemiLight SemiConde" panose="020B0502040204020203" pitchFamily="34" charset="0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6143DF-DF41-F684-3BC2-29A8265D3547}"/>
              </a:ext>
            </a:extLst>
          </p:cNvPr>
          <p:cNvCxnSpPr>
            <a:cxnSpLocks/>
          </p:cNvCxnSpPr>
          <p:nvPr/>
        </p:nvCxnSpPr>
        <p:spPr>
          <a:xfrm>
            <a:off x="698088" y="2410745"/>
            <a:ext cx="8827749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Shape 1">
            <a:extLst>
              <a:ext uri="{FF2B5EF4-FFF2-40B4-BE49-F238E27FC236}">
                <a16:creationId xmlns:a16="http://schemas.microsoft.com/office/drawing/2014/main" id="{CEA75542-8DD3-3C1F-3411-33B4B5E2ACAC}"/>
              </a:ext>
            </a:extLst>
          </p:cNvPr>
          <p:cNvSpPr/>
          <p:nvPr/>
        </p:nvSpPr>
        <p:spPr>
          <a:xfrm>
            <a:off x="536953" y="4067017"/>
            <a:ext cx="9159705" cy="3308473"/>
          </a:xfrm>
          <a:prstGeom prst="roundRect">
            <a:avLst>
              <a:gd name="adj" fmla="val 20836"/>
            </a:avLst>
          </a:prstGeom>
          <a:solidFill>
            <a:schemeClr val="bg1"/>
          </a:solidFill>
          <a:ln>
            <a:solidFill>
              <a:schemeClr val="tx1"/>
            </a:solidFill>
          </a:ln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188A3B4E-D49D-39B5-FD0B-A4295C897C90}"/>
              </a:ext>
            </a:extLst>
          </p:cNvPr>
          <p:cNvSpPr/>
          <p:nvPr/>
        </p:nvSpPr>
        <p:spPr>
          <a:xfrm>
            <a:off x="969514" y="4310557"/>
            <a:ext cx="2804874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Cụ</a:t>
            </a:r>
            <a:r>
              <a:rPr lang="en-US" sz="3200" b="1" dirty="0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200" b="1" dirty="0" err="1">
                <a:solidFill>
                  <a:schemeClr val="accent6">
                    <a:lumMod val="5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thể</a:t>
            </a:r>
            <a:endParaRPr lang="en-US" sz="3200" dirty="0">
              <a:solidFill>
                <a:schemeClr val="accent6">
                  <a:lumMod val="5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EACDF321-7326-8C70-0473-19349D765B31}"/>
              </a:ext>
            </a:extLst>
          </p:cNvPr>
          <p:cNvSpPr/>
          <p:nvPr/>
        </p:nvSpPr>
        <p:spPr>
          <a:xfrm>
            <a:off x="854109" y="4871365"/>
            <a:ext cx="8671728" cy="1650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Bahnschrift SemiLight SemiConde" panose="020B0502040204020203" pitchFamily="34" charset="0"/>
              </a:rPr>
              <a:t>Nghiên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cứu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thuyết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về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danh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kép</a:t>
            </a:r>
            <a:r>
              <a:rPr lang="en-US" sz="2400" dirty="0">
                <a:latin typeface="Bahnschrift SemiLight SemiConde" panose="020B0502040204020203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Bahnschrift SemiLight SemiConde" panose="020B0502040204020203" pitchFamily="34" charset="0"/>
              </a:rPr>
              <a:t>Phân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tích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chức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năng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cần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có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để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của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viên</a:t>
            </a:r>
            <a:r>
              <a:rPr lang="en-US" sz="2400" dirty="0">
                <a:latin typeface="Bahnschrift SemiLight SemiConde" panose="020B0502040204020203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dirty="0" err="1">
                <a:latin typeface="Bahnschrift SemiLight SemiConde" panose="020B0502040204020203" pitchFamily="34" charset="0"/>
              </a:rPr>
              <a:t>Viết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chương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trình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toàn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bộ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chương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trìnhnhằm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xử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lỗi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cải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thiện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chức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năng</a:t>
            </a:r>
            <a:r>
              <a:rPr lang="en-US" sz="2400" dirty="0">
                <a:latin typeface="Bahnschrift SemiLight SemiConde" panose="020B0502040204020203" pitchFamily="34" charset="0"/>
              </a:rPr>
              <a:t>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73BA241-A73E-6B4E-5116-E4EA616F2D42}"/>
              </a:ext>
            </a:extLst>
          </p:cNvPr>
          <p:cNvCxnSpPr>
            <a:cxnSpLocks/>
          </p:cNvCxnSpPr>
          <p:nvPr/>
        </p:nvCxnSpPr>
        <p:spPr>
          <a:xfrm>
            <a:off x="698088" y="4801664"/>
            <a:ext cx="8827749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86922147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11" grpId="0" animBg="1"/>
      <p:bldP spid="1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A61CABB-91B9-C02D-737B-F54F105ADF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0" y="7607263"/>
            <a:ext cx="2032000" cy="533474"/>
          </a:xfrm>
          <a:prstGeom prst="rect">
            <a:avLst/>
          </a:prstGeom>
        </p:spPr>
      </p:pic>
      <p:sp>
        <p:nvSpPr>
          <p:cNvPr id="4" name="Right Triangle 3">
            <a:extLst>
              <a:ext uri="{FF2B5EF4-FFF2-40B4-BE49-F238E27FC236}">
                <a16:creationId xmlns:a16="http://schemas.microsoft.com/office/drawing/2014/main" id="{1049C255-2332-C6C7-CCAB-BA4BD0496CE7}"/>
              </a:ext>
            </a:extLst>
          </p:cNvPr>
          <p:cNvSpPr/>
          <p:nvPr/>
        </p:nvSpPr>
        <p:spPr>
          <a:xfrm rot="10800000">
            <a:off x="9480591" y="-2"/>
            <a:ext cx="5149810" cy="8140737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88587BA-0BD7-9637-7BDC-E95C624067E9}"/>
              </a:ext>
            </a:extLst>
          </p:cNvPr>
          <p:cNvSpPr/>
          <p:nvPr/>
        </p:nvSpPr>
        <p:spPr>
          <a:xfrm>
            <a:off x="575577" y="2352389"/>
            <a:ext cx="11656088" cy="162470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DC9EBFD-083D-09C3-E4D7-7AE4C31B1D64}"/>
              </a:ext>
            </a:extLst>
          </p:cNvPr>
          <p:cNvSpPr/>
          <p:nvPr/>
        </p:nvSpPr>
        <p:spPr>
          <a:xfrm>
            <a:off x="431839" y="518576"/>
            <a:ext cx="51498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Bahnschrift SemiBold Condensed" panose="020B0502040204020203" pitchFamily="34" charset="0"/>
              </a:rPr>
              <a:t>4. Phạm vi </a:t>
            </a:r>
            <a:r>
              <a:rPr lang="en-US" sz="5400" dirty="0" err="1">
                <a:latin typeface="Bahnschrift SemiBold Condensed" panose="020B0502040204020203" pitchFamily="34" charset="0"/>
              </a:rPr>
              <a:t>nghiên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cứu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C1829FF-77F0-A72A-4DE5-4339D6947C27}"/>
              </a:ext>
            </a:extLst>
          </p:cNvPr>
          <p:cNvSpPr txBox="1"/>
          <p:nvPr/>
        </p:nvSpPr>
        <p:spPr>
          <a:xfrm>
            <a:off x="684872" y="1449032"/>
            <a:ext cx="11437498" cy="25280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>
                <a:latin typeface="Bahnschrift SemiBold Condensed" panose="020B0502040204020203" pitchFamily="34" charset="0"/>
              </a:rPr>
              <a:t>      </a:t>
            </a:r>
            <a:r>
              <a:rPr lang="en-US" sz="3600" dirty="0" err="1">
                <a:latin typeface="Bahnschrift SemiBold Condensed" panose="020B0502040204020203" pitchFamily="34" charset="0"/>
              </a:rPr>
              <a:t>Giới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hạn</a:t>
            </a:r>
            <a:endParaRPr lang="en-US" sz="3600" dirty="0">
              <a:latin typeface="Bahnschrift SemiBold Condensed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en-US" sz="2400" dirty="0" err="1">
                <a:latin typeface="Bahnschrift SemiLight SemiConde" panose="020B0502040204020203" pitchFamily="34" charset="0"/>
              </a:rPr>
              <a:t>Tập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trung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tìm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hiểu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cấu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trúc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danh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kép</a:t>
            </a:r>
            <a:r>
              <a:rPr lang="en-US" sz="2400" dirty="0">
                <a:latin typeface="Bahnschrift SemiLight SemiConde" panose="020B0502040204020203" pitchFamily="34" charset="0"/>
              </a:rPr>
              <a:t>, bao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gồm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khái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niệm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đặc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nguyên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hoạt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động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không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sâu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vấn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đề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như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xây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dựng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giao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diện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đồ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họa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phức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tạp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nối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cơ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sở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lớn</a:t>
            </a:r>
            <a:r>
              <a:rPr lang="en-US" sz="2400" dirty="0">
                <a:latin typeface="Bahnschrift SemiLight SemiConde" panose="020B0502040204020203" pitchFamily="34" charset="0"/>
              </a:rPr>
              <a:t> hay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triển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khai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hệ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thống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môi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trường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mạng</a:t>
            </a:r>
            <a:r>
              <a:rPr lang="en-US" sz="2400" dirty="0">
                <a:latin typeface="Bahnschrift SemiLight SemiConde" panose="020B0502040204020203" pitchFamily="34" charset="0"/>
              </a:rPr>
              <a:t>.</a:t>
            </a:r>
          </a:p>
        </p:txBody>
      </p:sp>
      <p:pic>
        <p:nvPicPr>
          <p:cNvPr id="1028" name="Picture 4" descr="Limited - Free commerce icons">
            <a:extLst>
              <a:ext uri="{FF2B5EF4-FFF2-40B4-BE49-F238E27FC236}">
                <a16:creationId xmlns:a16="http://schemas.microsoft.com/office/drawing/2014/main" id="{A55EA736-3754-18E2-C7B2-A4CEE5195B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77" y="1659348"/>
            <a:ext cx="605700" cy="605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7EBF06A3-565C-4E80-6503-AE01E8FA8453}"/>
              </a:ext>
            </a:extLst>
          </p:cNvPr>
          <p:cNvSpPr/>
          <p:nvPr/>
        </p:nvSpPr>
        <p:spPr>
          <a:xfrm>
            <a:off x="520342" y="5080911"/>
            <a:ext cx="7327661" cy="279308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utoShape 6" descr="Hình ảnh Biểu Tượng Dòng Nghiên Cứu Vectơ PNG , Biểu Tượng Nghiên Cứu, Giáo  Dục, Hiểu Biết PNG và Vector với nền trong suốt để tải xuống miễn phí">
            <a:extLst>
              <a:ext uri="{FF2B5EF4-FFF2-40B4-BE49-F238E27FC236}">
                <a16:creationId xmlns:a16="http://schemas.microsoft.com/office/drawing/2014/main" id="{97613A4C-F087-01C4-28A8-4039DBBFE71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996462" cy="99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DA8E06-BA3A-F690-ADA1-44698EF741EE}"/>
              </a:ext>
            </a:extLst>
          </p:cNvPr>
          <p:cNvSpPr txBox="1"/>
          <p:nvPr/>
        </p:nvSpPr>
        <p:spPr>
          <a:xfrm>
            <a:off x="572581" y="4270550"/>
            <a:ext cx="7223181" cy="5242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dirty="0">
                <a:latin typeface="Bahnschrift SemiBold Condensed" panose="020B0502040204020203" pitchFamily="34" charset="0"/>
              </a:rPr>
              <a:t>      Phạm vi </a:t>
            </a:r>
            <a:r>
              <a:rPr lang="en-US" sz="3600" dirty="0" err="1">
                <a:latin typeface="Bahnschrift SemiBold Condensed" panose="020B0502040204020203" pitchFamily="34" charset="0"/>
              </a:rPr>
              <a:t>chức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năng</a:t>
            </a:r>
            <a:endParaRPr lang="en-US" sz="3600" dirty="0">
              <a:latin typeface="Bahnschrift SemiBold Condensed" panose="020B0502040204020203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Bahnschrift SemiLight SemiConde" panose="020B0502040204020203" pitchFamily="34" charset="0"/>
              </a:rPr>
              <a:t>Thêm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xóa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sửa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thông</a:t>
            </a:r>
            <a:r>
              <a:rPr lang="en-US" sz="2400" dirty="0">
                <a:latin typeface="Bahnschrift SemiLight SemiConde" panose="020B0502040204020203" pitchFamily="34" charset="0"/>
              </a:rPr>
              <a:t> tin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viên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Bahnschrift SemiLight SemiConde" panose="020B0502040204020203" pitchFamily="34" charset="0"/>
              </a:rPr>
              <a:t>Hiển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thị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danh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viên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Bahnschrift SemiLight SemiConde" panose="020B0502040204020203" pitchFamily="34" charset="0"/>
              </a:rPr>
              <a:t>Sắp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xếp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tăng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giảm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dần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Bahnschrift SemiLight SemiConde" panose="020B0502040204020203" pitchFamily="34" charset="0"/>
              </a:rPr>
              <a:t>Lọc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tìm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có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cao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nhất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Bahnschrift SemiLight SemiConde" panose="020B0502040204020203" pitchFamily="34" charset="0"/>
              </a:rPr>
              <a:t>Thống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kê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chọn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đạt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giải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thưởng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3600" dirty="0">
              <a:latin typeface="Bahnschrift SemiBold Condensed" panose="020B0502040204020203" pitchFamily="34" charset="0"/>
            </a:endParaRPr>
          </a:p>
          <a:p>
            <a:pPr algn="just">
              <a:lnSpc>
                <a:spcPct val="150000"/>
              </a:lnSpc>
            </a:pP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31" name="AutoShape 8" descr="Hình ảnh Biểu Tượng Nghiên Cứu Vectơ PNG , Nghiên Cứu, Bóng đèn, Bóng đèn  Tròn PNG và Vector với nền trong suốt để tải xuống miễn phí">
            <a:extLst>
              <a:ext uri="{FF2B5EF4-FFF2-40B4-BE49-F238E27FC236}">
                <a16:creationId xmlns:a16="http://schemas.microsoft.com/office/drawing/2014/main" id="{EADB0BEF-EAA4-7742-3074-3BADB34629D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62800" y="39624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34" name="Picture 10" descr="Tải miễn phí Khoa Học Nghiên Cứu Dòng Biểu Tượng Vector Công cụ đồ họa | AI  chuyên nghiệp - Pikbest">
            <a:extLst>
              <a:ext uri="{FF2B5EF4-FFF2-40B4-BE49-F238E27FC236}">
                <a16:creationId xmlns:a16="http://schemas.microsoft.com/office/drawing/2014/main" id="{E0455DCA-782E-092A-8861-327186DD4F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07" y="4291647"/>
            <a:ext cx="728239" cy="72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71460063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0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5A74CF9-9A5E-E168-68CF-C776BEA4AB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0" y="7607263"/>
            <a:ext cx="2032000" cy="533474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D2DA7CD8-4190-626F-41F2-0C5DB9005923}"/>
              </a:ext>
            </a:extLst>
          </p:cNvPr>
          <p:cNvSpPr/>
          <p:nvPr/>
        </p:nvSpPr>
        <p:spPr>
          <a:xfrm>
            <a:off x="431839" y="518576"/>
            <a:ext cx="6320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Bahnschrift SemiBold Condensed" panose="020B0502040204020203" pitchFamily="34" charset="0"/>
              </a:rPr>
              <a:t>5. Phương </a:t>
            </a:r>
            <a:r>
              <a:rPr lang="en-US" sz="5400" dirty="0" err="1">
                <a:latin typeface="Bahnschrift SemiBold Condensed" panose="020B0502040204020203" pitchFamily="34" charset="0"/>
              </a:rPr>
              <a:t>pháp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nghiên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cứu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9" name="AutoShape 6" descr="Hình ảnh Biểu Tượng Dòng Nghiên Cứu Vectơ PNG , Biểu Tượng Nghiên Cứu, Giáo  Dục, Hiểu Biết PNG và Vector với nền trong suốt để tải xuống miễn phí">
            <a:extLst>
              <a:ext uri="{FF2B5EF4-FFF2-40B4-BE49-F238E27FC236}">
                <a16:creationId xmlns:a16="http://schemas.microsoft.com/office/drawing/2014/main" id="{2DBF701C-9528-5F1F-A07E-8F81183A9E7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27124" y="2994887"/>
            <a:ext cx="996462" cy="99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1" name="AutoShape 8" descr="Hình ảnh Biểu Tượng Nghiên Cứu Vectơ PNG , Nghiên Cứu, Bóng đèn, Bóng đèn  Tròn PNG và Vector với nền trong suốt để tải xuống miễn phí">
            <a:extLst>
              <a:ext uri="{FF2B5EF4-FFF2-40B4-BE49-F238E27FC236}">
                <a16:creationId xmlns:a16="http://schemas.microsoft.com/office/drawing/2014/main" id="{EC2FE7B1-47C6-9F9E-975F-E8287C8C84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127124" y="2994887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3" name="Text 0">
            <a:extLst>
              <a:ext uri="{FF2B5EF4-FFF2-40B4-BE49-F238E27FC236}">
                <a16:creationId xmlns:a16="http://schemas.microsoft.com/office/drawing/2014/main" id="{62D7312E-2BD5-D850-1784-4C2037926FB7}"/>
              </a:ext>
            </a:extLst>
          </p:cNvPr>
          <p:cNvSpPr/>
          <p:nvPr/>
        </p:nvSpPr>
        <p:spPr>
          <a:xfrm>
            <a:off x="922534" y="1239313"/>
            <a:ext cx="60610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latin typeface="Bahnschrift SemiBold Condensed" panose="020B0502040204020203" pitchFamily="34" charset="0"/>
              </a:rPr>
              <a:t>5. 1. </a:t>
            </a:r>
            <a:r>
              <a:rPr lang="en-US" sz="3600" dirty="0" err="1">
                <a:latin typeface="Bahnschrift SemiBold Condensed" panose="020B0502040204020203" pitchFamily="34" charset="0"/>
              </a:rPr>
              <a:t>Nghiên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cứu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lý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thuyết</a:t>
            </a: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821852F2-E12E-4372-4F4E-D77504B14B23}"/>
              </a:ext>
            </a:extLst>
          </p:cNvPr>
          <p:cNvSpPr/>
          <p:nvPr/>
        </p:nvSpPr>
        <p:spPr>
          <a:xfrm>
            <a:off x="1164415" y="1869360"/>
            <a:ext cx="11925417" cy="8724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Bahnschrift SemiLight SemiConde" panose="020B0502040204020203" pitchFamily="34" charset="0"/>
              </a:rPr>
              <a:t>Danh </a:t>
            </a:r>
            <a:r>
              <a:rPr lang="en-US" sz="20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liên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000" dirty="0">
                <a:latin typeface="Bahnschrift SemiLight SemiConde" panose="020B0502040204020203" pitchFamily="34" charset="0"/>
              </a:rPr>
              <a:t> (Linked List) </a:t>
            </a:r>
            <a:r>
              <a:rPr lang="en-US" sz="2000" dirty="0" err="1">
                <a:latin typeface="Bahnschrift SemiLight SemiConde" panose="020B0502040204020203" pitchFamily="34" charset="0"/>
              </a:rPr>
              <a:t>là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một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cấu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trúc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tuyến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tính</a:t>
            </a:r>
            <a:r>
              <a:rPr lang="en-US" sz="2000" dirty="0">
                <a:latin typeface="Bahnschrift SemiLight SemiConde" panose="020B0502040204020203" pitchFamily="34" charset="0"/>
              </a:rPr>
              <a:t>, </a:t>
            </a:r>
            <a:r>
              <a:rPr lang="en-US" sz="2000" dirty="0" err="1">
                <a:latin typeface="Bahnschrift SemiLight SemiConde" panose="020B0502040204020203" pitchFamily="34" charset="0"/>
              </a:rPr>
              <a:t>trong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đó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phần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tử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không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được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lưu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trữ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liên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tiếp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trong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bộ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nhớ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như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mảng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mà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được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tổ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chức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dưới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dạng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000" dirty="0"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latin typeface="Bahnschrift SemiLight SemiConde" panose="020B0502040204020203" pitchFamily="34" charset="0"/>
              </a:rPr>
              <a:t>nút</a:t>
            </a:r>
            <a:r>
              <a:rPr lang="en-US" sz="2000" dirty="0">
                <a:latin typeface="Bahnschrift SemiLight SemiConde" panose="020B0502040204020203" pitchFamily="34" charset="0"/>
              </a:rPr>
              <a:t> (node).</a:t>
            </a:r>
            <a:endParaRPr lang="en-US" sz="3200" dirty="0">
              <a:latin typeface="Bahnschrift SemiLight SemiConde" panose="020B0502040204020203" pitchFamily="34" charset="0"/>
            </a:endParaRPr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A45F7BC8-C1AE-4B7D-059D-8E26DDE22F6D}"/>
              </a:ext>
            </a:extLst>
          </p:cNvPr>
          <p:cNvSpPr/>
          <p:nvPr/>
        </p:nvSpPr>
        <p:spPr>
          <a:xfrm>
            <a:off x="578080" y="3058090"/>
            <a:ext cx="6130439" cy="4766533"/>
          </a:xfrm>
          <a:prstGeom prst="roundRect">
            <a:avLst>
              <a:gd name="adj" fmla="val 5091"/>
            </a:avLst>
          </a:prstGeom>
          <a:solidFill>
            <a:srgbClr val="111213"/>
          </a:solidFill>
          <a:ln/>
        </p:spPr>
      </p:sp>
      <p:sp>
        <p:nvSpPr>
          <p:cNvPr id="17" name="Text 6">
            <a:extLst>
              <a:ext uri="{FF2B5EF4-FFF2-40B4-BE49-F238E27FC236}">
                <a16:creationId xmlns:a16="http://schemas.microsoft.com/office/drawing/2014/main" id="{77CE1446-762D-B1BE-B61B-117B49E17AB5}"/>
              </a:ext>
            </a:extLst>
          </p:cNvPr>
          <p:cNvSpPr/>
          <p:nvPr/>
        </p:nvSpPr>
        <p:spPr>
          <a:xfrm>
            <a:off x="1754808" y="3286159"/>
            <a:ext cx="3616728" cy="5199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Danh </a:t>
            </a:r>
            <a:r>
              <a:rPr lang="en-US" sz="36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sách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6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liên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6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kết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6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đơn</a:t>
            </a:r>
            <a:endParaRPr lang="en-US" sz="3600" b="1" dirty="0">
              <a:solidFill>
                <a:schemeClr val="accent5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  <a:ea typeface="Montserrat Bold" pitchFamily="34" charset="-122"/>
              <a:cs typeface="Montserrat Bold" pitchFamily="34" charset="-120"/>
            </a:endParaRPr>
          </a:p>
          <a:p>
            <a:pPr marL="0" indent="0" algn="l">
              <a:buNone/>
            </a:pP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endParaRPr lang="en-US" sz="3600" dirty="0">
              <a:solidFill>
                <a:schemeClr val="accent5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18" name="Text 7">
            <a:extLst>
              <a:ext uri="{FF2B5EF4-FFF2-40B4-BE49-F238E27FC236}">
                <a16:creationId xmlns:a16="http://schemas.microsoft.com/office/drawing/2014/main" id="{C3A0EFBC-90B6-84E3-5C1E-39935D7E4F1F}"/>
              </a:ext>
            </a:extLst>
          </p:cNvPr>
          <p:cNvSpPr/>
          <p:nvPr/>
        </p:nvSpPr>
        <p:spPr>
          <a:xfrm>
            <a:off x="1369146" y="3979391"/>
            <a:ext cx="3194219" cy="22912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2400" dirty="0">
              <a:latin typeface="Bahnschrift SemiLight SemiConde" panose="020B0502040204020203" pitchFamily="34" charset="0"/>
            </a:endParaRPr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99784B02-6A93-3077-487C-EC4ECE67D982}"/>
              </a:ext>
            </a:extLst>
          </p:cNvPr>
          <p:cNvSpPr/>
          <p:nvPr/>
        </p:nvSpPr>
        <p:spPr>
          <a:xfrm>
            <a:off x="7797521" y="3122088"/>
            <a:ext cx="6069204" cy="4702535"/>
          </a:xfrm>
          <a:prstGeom prst="roundRect">
            <a:avLst>
              <a:gd name="adj" fmla="val 5091"/>
            </a:avLst>
          </a:prstGeom>
          <a:solidFill>
            <a:srgbClr val="111213"/>
          </a:solidFill>
          <a:ln/>
        </p:spPr>
      </p:sp>
      <p:sp>
        <p:nvSpPr>
          <p:cNvPr id="23" name="Text 18">
            <a:extLst>
              <a:ext uri="{FF2B5EF4-FFF2-40B4-BE49-F238E27FC236}">
                <a16:creationId xmlns:a16="http://schemas.microsoft.com/office/drawing/2014/main" id="{C3AFAB83-A1BF-243C-62FB-72EE9AB052D9}"/>
              </a:ext>
            </a:extLst>
          </p:cNvPr>
          <p:cNvSpPr/>
          <p:nvPr/>
        </p:nvSpPr>
        <p:spPr>
          <a:xfrm>
            <a:off x="9118679" y="3479983"/>
            <a:ext cx="3621268" cy="5113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Danh </a:t>
            </a:r>
            <a:r>
              <a:rPr lang="en-US" sz="36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sách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6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liên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6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kết</a:t>
            </a:r>
            <a:r>
              <a:rPr lang="en-US" sz="3600" b="1" dirty="0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 </a:t>
            </a:r>
            <a:r>
              <a:rPr lang="en-US" sz="3600" b="1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Bahnschrift SemiBold Condensed" panose="020B0502040204020203" pitchFamily="34" charset="0"/>
                <a:ea typeface="Montserrat Bold" pitchFamily="34" charset="-122"/>
                <a:cs typeface="Montserrat Bold" pitchFamily="34" charset="-120"/>
              </a:rPr>
              <a:t>kép</a:t>
            </a:r>
            <a:endParaRPr lang="en-US" sz="3600" dirty="0">
              <a:solidFill>
                <a:schemeClr val="accent5">
                  <a:lumMod val="60000"/>
                  <a:lumOff val="40000"/>
                </a:schemeClr>
              </a:solidFill>
              <a:latin typeface="Bahnschrift SemiBold Condensed" panose="020B0502040204020203" pitchFamily="34" charset="0"/>
            </a:endParaRPr>
          </a:p>
        </p:txBody>
      </p:sp>
      <p:sp>
        <p:nvSpPr>
          <p:cNvPr id="24" name="Text 19">
            <a:extLst>
              <a:ext uri="{FF2B5EF4-FFF2-40B4-BE49-F238E27FC236}">
                <a16:creationId xmlns:a16="http://schemas.microsoft.com/office/drawing/2014/main" id="{C5B0A251-7D47-A864-EC82-A6B9D79F241E}"/>
              </a:ext>
            </a:extLst>
          </p:cNvPr>
          <p:cNvSpPr/>
          <p:nvPr/>
        </p:nvSpPr>
        <p:spPr>
          <a:xfrm>
            <a:off x="8336099" y="4124920"/>
            <a:ext cx="5239223" cy="2367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Truy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cập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trực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tiếp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qua con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trỏ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prev</a:t>
            </a:r>
            <a:endParaRPr lang="en-US" sz="2000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Duyệt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được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hai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chiều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từ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đầu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đến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cuối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và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ngược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lại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Chèn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xóa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linh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hoạt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hơn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dễ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thao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tác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tại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mọi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vị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trí</a:t>
            </a:r>
            <a:endParaRPr lang="en-US" sz="2000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Bộ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nhớ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sử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dụng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nhiều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hơn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do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lưu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thêm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con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trỏ</a:t>
            </a:r>
            <a:endParaRPr lang="en-US" sz="2000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Ứng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dụng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các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bài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toán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phức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tạp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hơn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cần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quản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lý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dữ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liệu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động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cần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duyệt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hai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chiều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.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54212F39-D730-BF2B-1BE4-4DA6D0FC59BA}"/>
              </a:ext>
            </a:extLst>
          </p:cNvPr>
          <p:cNvCxnSpPr>
            <a:cxnSpLocks/>
          </p:cNvCxnSpPr>
          <p:nvPr/>
        </p:nvCxnSpPr>
        <p:spPr>
          <a:xfrm>
            <a:off x="622053" y="3991349"/>
            <a:ext cx="5179023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F67928C7-14CE-36C1-6BF2-0C4F8C1023CE}"/>
              </a:ext>
            </a:extLst>
          </p:cNvPr>
          <p:cNvCxnSpPr>
            <a:cxnSpLocks/>
          </p:cNvCxnSpPr>
          <p:nvPr/>
        </p:nvCxnSpPr>
        <p:spPr>
          <a:xfrm flipH="1" flipV="1">
            <a:off x="7797521" y="4042149"/>
            <a:ext cx="6069204" cy="33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B737906-55AC-B201-8EF1-A46524BCACFE}"/>
              </a:ext>
            </a:extLst>
          </p:cNvPr>
          <p:cNvCxnSpPr>
            <a:cxnSpLocks/>
          </p:cNvCxnSpPr>
          <p:nvPr/>
        </p:nvCxnSpPr>
        <p:spPr>
          <a:xfrm>
            <a:off x="431839" y="2920799"/>
            <a:ext cx="13605708" cy="72301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70109F6A-DA06-60DE-4BBF-F6B5DF88A2EC}"/>
              </a:ext>
            </a:extLst>
          </p:cNvPr>
          <p:cNvSpPr txBox="1"/>
          <p:nvPr/>
        </p:nvSpPr>
        <p:spPr>
          <a:xfrm>
            <a:off x="922534" y="4129948"/>
            <a:ext cx="5628991" cy="32614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Phải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duyệt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từ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đầu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danh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sách</a:t>
            </a:r>
            <a:endParaRPr lang="en-US" sz="2000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Chỉ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duyệt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được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một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chiều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(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từ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đầu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đến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cuối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),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không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thể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thao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tác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ngược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.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Chèn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xóa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nhanh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nhưng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khó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thao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tác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khi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cần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truy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ngược</a:t>
            </a:r>
            <a:endParaRPr lang="en-US" sz="2000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Bộ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nhớ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sử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dụng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ít</a:t>
            </a:r>
            <a:endParaRPr lang="en-US" sz="2000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Ứng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dụng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dữ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liệu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đơn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giản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,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ít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thao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tác</a:t>
            </a:r>
            <a:r>
              <a:rPr lang="en-US" sz="2000" dirty="0">
                <a:solidFill>
                  <a:schemeClr val="bg1"/>
                </a:solidFill>
                <a:latin typeface="Bahnschrift SemiLight SemiConde" panose="020B0502040204020203" pitchFamily="34" charset="0"/>
              </a:rPr>
              <a:t> </a:t>
            </a:r>
            <a:r>
              <a:rPr lang="en-US" sz="2000" dirty="0" err="1">
                <a:solidFill>
                  <a:schemeClr val="bg1"/>
                </a:solidFill>
                <a:latin typeface="Bahnschrift SemiLight SemiConde" panose="020B0502040204020203" pitchFamily="34" charset="0"/>
              </a:rPr>
              <a:t>ngược</a:t>
            </a:r>
            <a:endParaRPr lang="en-US" sz="2000" dirty="0">
              <a:solidFill>
                <a:schemeClr val="bg1"/>
              </a:solidFill>
              <a:latin typeface="Bahnschrift SemiLight SemiConde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4109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7" grpId="0" animBg="1"/>
      <p:bldP spid="24" grpId="0" animBg="1"/>
      <p:bldP spid="3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9A9B2D-A56F-92C4-8AD8-A6F548634E2F}"/>
              </a:ext>
            </a:extLst>
          </p:cNvPr>
          <p:cNvSpPr/>
          <p:nvPr/>
        </p:nvSpPr>
        <p:spPr>
          <a:xfrm>
            <a:off x="431839" y="518576"/>
            <a:ext cx="6320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Bahnschrift SemiBold Condensed" panose="020B0502040204020203" pitchFamily="34" charset="0"/>
              </a:rPr>
              <a:t>5. Phương </a:t>
            </a:r>
            <a:r>
              <a:rPr lang="en-US" sz="5400" dirty="0" err="1">
                <a:latin typeface="Bahnschrift SemiBold Condensed" panose="020B0502040204020203" pitchFamily="34" charset="0"/>
              </a:rPr>
              <a:t>pháp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nghiên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cứu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371F379B-751B-10E6-D6F5-3F1551422555}"/>
              </a:ext>
            </a:extLst>
          </p:cNvPr>
          <p:cNvSpPr/>
          <p:nvPr/>
        </p:nvSpPr>
        <p:spPr>
          <a:xfrm>
            <a:off x="922534" y="1258956"/>
            <a:ext cx="60610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latin typeface="Bahnschrift SemiBold Condensed" panose="020B0502040204020203" pitchFamily="34" charset="0"/>
              </a:rPr>
              <a:t>5. 1. </a:t>
            </a:r>
            <a:r>
              <a:rPr lang="en-US" sz="3600" dirty="0" err="1">
                <a:latin typeface="Bahnschrift SemiBold Condensed" panose="020B0502040204020203" pitchFamily="34" charset="0"/>
              </a:rPr>
              <a:t>Nghiên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cứu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lý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thuyết</a:t>
            </a:r>
            <a:endParaRPr lang="en-US" sz="3600" dirty="0">
              <a:latin typeface="Bahnschrift SemiBold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77BBCD-18D8-5F4A-FDF6-18B519C02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0" y="7607263"/>
            <a:ext cx="2032000" cy="533474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a16:creationId xmlns:a16="http://schemas.microsoft.com/office/drawing/2014/main" id="{14401648-67ED-A625-3AE0-C21C8B8D361B}"/>
              </a:ext>
            </a:extLst>
          </p:cNvPr>
          <p:cNvSpPr/>
          <p:nvPr/>
        </p:nvSpPr>
        <p:spPr>
          <a:xfrm>
            <a:off x="1164415" y="1998699"/>
            <a:ext cx="11925417" cy="24426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0876B0B-94A8-B04B-D8A0-FA99B51AA098}"/>
              </a:ext>
            </a:extLst>
          </p:cNvPr>
          <p:cNvSpPr txBox="1"/>
          <p:nvPr/>
        </p:nvSpPr>
        <p:spPr>
          <a:xfrm>
            <a:off x="922534" y="1982579"/>
            <a:ext cx="10029718" cy="237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 err="1">
                <a:latin typeface="Bahnschrift SemiBold Condensed" panose="020B0502040204020203" pitchFamily="34" charset="0"/>
              </a:rPr>
              <a:t>Sự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phù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hợp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của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danh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sách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liên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kết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kép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với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bài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toán</a:t>
            </a:r>
            <a:endParaRPr lang="en-US" sz="3000" dirty="0">
              <a:latin typeface="Bahnschrift SemiBold Condensed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Bahnschrift SemiLight SemiConde" panose="020B0502040204020203" pitchFamily="34" charset="0"/>
              </a:rPr>
              <a:t>Mặc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dù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tốn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thêm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bộ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nhớ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để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lưu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con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trỏ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nhưng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với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quy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mô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của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kỳ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thi</a:t>
            </a:r>
            <a:r>
              <a:rPr lang="en-US" sz="2400" dirty="0">
                <a:latin typeface="Bahnschrift SemiLight SemiConde" panose="020B0502040204020203" pitchFamily="34" charset="0"/>
              </a:rPr>
              <a:t> Olympic Tin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học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viên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danh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kép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lại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đáp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ứng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tốt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yêu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cầu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của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bài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toán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nhờ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khả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năng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động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hoạt</a:t>
            </a:r>
            <a:r>
              <a:rPr lang="en-US" sz="2400" dirty="0">
                <a:latin typeface="Bahnschrift SemiLight SemiConde" panose="020B0502040204020203" pitchFamily="34" charset="0"/>
              </a:rPr>
              <a:t>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26E207A-D25C-031B-52B0-FD08F186E929}"/>
              </a:ext>
            </a:extLst>
          </p:cNvPr>
          <p:cNvSpPr txBox="1"/>
          <p:nvPr/>
        </p:nvSpPr>
        <p:spPr>
          <a:xfrm>
            <a:off x="922534" y="4619147"/>
            <a:ext cx="10574248" cy="2371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000" b="1" dirty="0">
                <a:latin typeface="Bahnschrift SemiBold Condensed" panose="020B0502040204020203" pitchFamily="34" charset="0"/>
              </a:rPr>
              <a:t>Định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hướng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áp</a:t>
            </a:r>
            <a:r>
              <a:rPr lang="en-US" sz="3000" b="1" dirty="0">
                <a:latin typeface="Bahnschrift SemiBold Condensed" panose="020B0502040204020203" pitchFamily="34" charset="0"/>
              </a:rPr>
              <a:t> </a:t>
            </a:r>
            <a:r>
              <a:rPr lang="en-US" sz="3000" b="1" dirty="0" err="1">
                <a:latin typeface="Bahnschrift SemiBold Condensed" panose="020B0502040204020203" pitchFamily="34" charset="0"/>
              </a:rPr>
              <a:t>dụng</a:t>
            </a:r>
            <a:endParaRPr lang="en-US" sz="3000" dirty="0">
              <a:latin typeface="Bahnschrift SemiBold Condensed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 err="1">
                <a:latin typeface="Bahnschrift SemiLight SemiConde" panose="020B0502040204020203" pitchFamily="34" charset="0"/>
              </a:rPr>
              <a:t>Mỗi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được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biểu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diễn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dưới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dạng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một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nút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trong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danh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kép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chứa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thông</a:t>
            </a:r>
            <a:r>
              <a:rPr lang="en-US" sz="2400" dirty="0">
                <a:latin typeface="Bahnschrift SemiLight SemiConde" panose="020B0502040204020203" pitchFamily="34" charset="0"/>
              </a:rPr>
              <a:t> tin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như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mã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họ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tên</a:t>
            </a:r>
            <a:r>
              <a:rPr lang="en-US" sz="2400" dirty="0">
                <a:latin typeface="Bahnschrift SemiLight SemiConde" panose="020B0502040204020203" pitchFamily="34" charset="0"/>
              </a:rPr>
              <a:t>, khoa/</a:t>
            </a:r>
            <a:r>
              <a:rPr lang="en-US" sz="2400" dirty="0" err="1">
                <a:latin typeface="Bahnschrift SemiLight SemiConde" panose="020B0502040204020203" pitchFamily="34" charset="0"/>
              </a:rPr>
              <a:t>lớp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thi</a:t>
            </a:r>
            <a:r>
              <a:rPr lang="en-US" sz="2400" dirty="0">
                <a:latin typeface="Bahnschrift SemiLight SemiConde" panose="020B0502040204020203" pitchFamily="34" charset="0"/>
              </a:rPr>
              <a:t>. Danh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kép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được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dụng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làm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cấu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trúc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chính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để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lưu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toàn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bộ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danh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.</a:t>
            </a:r>
            <a:endParaRPr lang="en-US" sz="2800" dirty="0">
              <a:latin typeface="Bahnschrift SemiLight SemiConde" panose="020B0502040204020203" pitchFamily="34" charset="0"/>
            </a:endParaRPr>
          </a:p>
        </p:txBody>
      </p:sp>
      <p:sp>
        <p:nvSpPr>
          <p:cNvPr id="9" name="Right Triangle 8">
            <a:extLst>
              <a:ext uri="{FF2B5EF4-FFF2-40B4-BE49-F238E27FC236}">
                <a16:creationId xmlns:a16="http://schemas.microsoft.com/office/drawing/2014/main" id="{F1C3EFB9-3A55-DB8A-5D2B-CCF14C6029B4}"/>
              </a:ext>
            </a:extLst>
          </p:cNvPr>
          <p:cNvSpPr/>
          <p:nvPr/>
        </p:nvSpPr>
        <p:spPr>
          <a:xfrm rot="10800000">
            <a:off x="9021500" y="1"/>
            <a:ext cx="5640513" cy="8140736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FC1D878D-8348-845D-9DAD-0BEE28C7A8FF}"/>
              </a:ext>
            </a:extLst>
          </p:cNvPr>
          <p:cNvSpPr/>
          <p:nvPr/>
        </p:nvSpPr>
        <p:spPr>
          <a:xfrm rot="16200000">
            <a:off x="9166461" y="2676795"/>
            <a:ext cx="6674379" cy="4253498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560143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3DA120A-7EA6-1357-7B56-BB659EA8B4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0" y="7607263"/>
            <a:ext cx="2032000" cy="533474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C5DA8D-F94E-E4CC-EF19-E062F74AE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0800" y="7759663"/>
            <a:ext cx="2032000" cy="533474"/>
          </a:xfrm>
          <a:prstGeom prst="rect">
            <a:avLst/>
          </a:prstGeom>
        </p:spPr>
      </p:pic>
      <p:sp>
        <p:nvSpPr>
          <p:cNvPr id="4" name="Text 0">
            <a:extLst>
              <a:ext uri="{FF2B5EF4-FFF2-40B4-BE49-F238E27FC236}">
                <a16:creationId xmlns:a16="http://schemas.microsoft.com/office/drawing/2014/main" id="{37805D72-1DBE-1D8A-1C2F-E8C02F3448A0}"/>
              </a:ext>
            </a:extLst>
          </p:cNvPr>
          <p:cNvSpPr/>
          <p:nvPr/>
        </p:nvSpPr>
        <p:spPr>
          <a:xfrm>
            <a:off x="431839" y="518576"/>
            <a:ext cx="6320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Bahnschrift SemiBold Condensed" panose="020B0502040204020203" pitchFamily="34" charset="0"/>
              </a:rPr>
              <a:t>5. Phương </a:t>
            </a:r>
            <a:r>
              <a:rPr lang="en-US" sz="5400" dirty="0" err="1">
                <a:latin typeface="Bahnschrift SemiBold Condensed" panose="020B0502040204020203" pitchFamily="34" charset="0"/>
              </a:rPr>
              <a:t>pháp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nghiên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cứu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03E0D9C6-A317-1BB2-8E42-E7BA67722F32}"/>
              </a:ext>
            </a:extLst>
          </p:cNvPr>
          <p:cNvSpPr/>
          <p:nvPr/>
        </p:nvSpPr>
        <p:spPr>
          <a:xfrm>
            <a:off x="922534" y="1239313"/>
            <a:ext cx="60610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latin typeface="Bahnschrift SemiBold Condensed" panose="020B0502040204020203" pitchFamily="34" charset="0"/>
              </a:rPr>
              <a:t>5. 1. </a:t>
            </a:r>
            <a:r>
              <a:rPr lang="en-US" sz="3600" dirty="0" err="1">
                <a:latin typeface="Bahnschrift SemiBold Condensed" panose="020B0502040204020203" pitchFamily="34" charset="0"/>
              </a:rPr>
              <a:t>Nghiên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cứu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lý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thuyết</a:t>
            </a: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3C55F3-0D78-2F59-7760-838EF8070B3D}"/>
              </a:ext>
            </a:extLst>
          </p:cNvPr>
          <p:cNvSpPr txBox="1"/>
          <p:nvPr/>
        </p:nvSpPr>
        <p:spPr>
          <a:xfrm>
            <a:off x="1173743" y="2174996"/>
            <a:ext cx="9035382" cy="5307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 dirty="0" err="1">
                <a:latin typeface="Bahnschrift SemiBold Condensed" panose="020B0502040204020203" pitchFamily="34" charset="0"/>
              </a:rPr>
              <a:t>Phân</a:t>
            </a:r>
            <a:r>
              <a:rPr lang="en-US" sz="3200" b="1" dirty="0">
                <a:latin typeface="Bahnschrift SemiBold Condensed" panose="020B0502040204020203" pitchFamily="34" charset="0"/>
              </a:rPr>
              <a:t> </a:t>
            </a:r>
            <a:r>
              <a:rPr lang="en-US" sz="3200" b="1" dirty="0" err="1">
                <a:latin typeface="Bahnschrift SemiBold Condensed" panose="020B0502040204020203" pitchFamily="34" charset="0"/>
              </a:rPr>
              <a:t>tích</a:t>
            </a:r>
            <a:r>
              <a:rPr lang="en-US" sz="3200" b="1" dirty="0">
                <a:latin typeface="Bahnschrift SemiBold Condensed" panose="020B0502040204020203" pitchFamily="34" charset="0"/>
              </a:rPr>
              <a:t> </a:t>
            </a:r>
            <a:r>
              <a:rPr lang="en-US" sz="3200" b="1" dirty="0" err="1">
                <a:latin typeface="Bahnschrift SemiBold Condensed" panose="020B0502040204020203" pitchFamily="34" charset="0"/>
              </a:rPr>
              <a:t>các</a:t>
            </a:r>
            <a:r>
              <a:rPr lang="en-US" sz="3200" b="1" dirty="0">
                <a:latin typeface="Bahnschrift SemiBold Condensed" panose="020B0502040204020203" pitchFamily="34" charset="0"/>
              </a:rPr>
              <a:t> </a:t>
            </a:r>
            <a:r>
              <a:rPr lang="en-US" sz="3200" b="1" dirty="0" err="1">
                <a:latin typeface="Bahnschrift SemiBold Condensed" panose="020B0502040204020203" pitchFamily="34" charset="0"/>
              </a:rPr>
              <a:t>chức</a:t>
            </a:r>
            <a:r>
              <a:rPr lang="en-US" sz="3200" b="1" dirty="0">
                <a:latin typeface="Bahnschrift SemiBold Condensed" panose="020B0502040204020203" pitchFamily="34" charset="0"/>
              </a:rPr>
              <a:t> </a:t>
            </a:r>
            <a:r>
              <a:rPr lang="en-US" sz="3200" b="1" dirty="0" err="1">
                <a:latin typeface="Bahnschrift SemiBold Condensed" panose="020B0502040204020203" pitchFamily="34" charset="0"/>
              </a:rPr>
              <a:t>năng</a:t>
            </a:r>
            <a:r>
              <a:rPr lang="en-US" sz="3200" b="1" dirty="0">
                <a:latin typeface="Bahnschrift SemiBold Condensed" panose="020B0502040204020203" pitchFamily="34" charset="0"/>
              </a:rPr>
              <a:t> </a:t>
            </a:r>
            <a:r>
              <a:rPr lang="en-US" sz="3200" b="1" dirty="0" err="1">
                <a:latin typeface="Bahnschrift SemiBold Condensed" panose="020B0502040204020203" pitchFamily="34" charset="0"/>
              </a:rPr>
              <a:t>cần</a:t>
            </a:r>
            <a:r>
              <a:rPr lang="en-US" sz="3200" b="1" dirty="0">
                <a:latin typeface="Bahnschrift SemiBold Condensed" panose="020B0502040204020203" pitchFamily="34" charset="0"/>
              </a:rPr>
              <a:t> </a:t>
            </a:r>
            <a:r>
              <a:rPr lang="en-US" sz="3200" b="1" dirty="0" err="1">
                <a:latin typeface="Bahnschrift SemiBold Condensed" panose="020B0502040204020203" pitchFamily="34" charset="0"/>
              </a:rPr>
              <a:t>có</a:t>
            </a:r>
            <a:r>
              <a:rPr lang="en-US" sz="3200" b="1" dirty="0">
                <a:latin typeface="Bahnschrift SemiBold Condensed" panose="020B0502040204020203" pitchFamily="34" charset="0"/>
              </a:rPr>
              <a:t> </a:t>
            </a:r>
            <a:r>
              <a:rPr lang="en-US" sz="3200" b="1" dirty="0" err="1">
                <a:latin typeface="Bahnschrift SemiBold Condensed" panose="020B0502040204020203" pitchFamily="34" charset="0"/>
              </a:rPr>
              <a:t>của</a:t>
            </a:r>
            <a:r>
              <a:rPr lang="en-US" sz="3200" b="1" dirty="0">
                <a:latin typeface="Bahnschrift SemiBold Condensed" panose="020B0502040204020203" pitchFamily="34" charset="0"/>
              </a:rPr>
              <a:t> </a:t>
            </a:r>
            <a:r>
              <a:rPr lang="en-US" sz="3200" b="1" dirty="0" err="1">
                <a:latin typeface="Bahnschrift SemiBold Condensed" panose="020B0502040204020203" pitchFamily="34" charset="0"/>
              </a:rPr>
              <a:t>hệ</a:t>
            </a:r>
            <a:r>
              <a:rPr lang="en-US" sz="3200" b="1" dirty="0">
                <a:latin typeface="Bahnschrift SemiBold Condensed" panose="020B0502040204020203" pitchFamily="34" charset="0"/>
              </a:rPr>
              <a:t> </a:t>
            </a:r>
            <a:r>
              <a:rPr lang="en-US" sz="3200" b="1" dirty="0" err="1">
                <a:latin typeface="Bahnschrift SemiBold Condensed" panose="020B0502040204020203" pitchFamily="34" charset="0"/>
              </a:rPr>
              <a:t>thống</a:t>
            </a:r>
            <a:endParaRPr lang="en-US" sz="3200" b="1" dirty="0">
              <a:latin typeface="Bahnschrift SemiBold Condensed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Bahnschrift SemiLight SemiConde" panose="020B0502040204020203" pitchFamily="34" charset="0"/>
              </a:rPr>
              <a:t>Thêm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xóa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sửa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thông</a:t>
            </a:r>
            <a:r>
              <a:rPr lang="en-US" sz="2400" dirty="0">
                <a:latin typeface="Bahnschrift SemiLight SemiConde" panose="020B0502040204020203" pitchFamily="34" charset="0"/>
              </a:rPr>
              <a:t> tin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>
                <a:latin typeface="Bahnschrift SemiLight SemiConde" panose="020B0502040204020203" pitchFamily="34" charset="0"/>
              </a:rPr>
              <a:t>Hiển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thị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danh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Bahnschrift SemiLight SemiConde" panose="020B0502040204020203" pitchFamily="34" charset="0"/>
              </a:rPr>
              <a:t>Sắp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xếp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tăng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giảm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dần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Bahnschrift SemiLight SemiConde" panose="020B0502040204020203" pitchFamily="34" charset="0"/>
              </a:rPr>
              <a:t>Tìm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hiển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thị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số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lượng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thông</a:t>
            </a:r>
            <a:r>
              <a:rPr lang="en-US" sz="2400" dirty="0">
                <a:latin typeface="Bahnschrift SemiLight SemiConde" panose="020B0502040204020203" pitchFamily="34" charset="0"/>
              </a:rPr>
              <a:t> tin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có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cao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nhất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Bahnschrift SemiLight SemiConde" panose="020B0502040204020203" pitchFamily="34" charset="0"/>
              </a:rPr>
              <a:t>Lọc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có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trên</a:t>
            </a:r>
            <a:r>
              <a:rPr lang="en-US" sz="2400" dirty="0">
                <a:latin typeface="Bahnschrift SemiLight SemiConde" panose="020B0502040204020203" pitchFamily="34" charset="0"/>
              </a:rPr>
              <a:t> 8.0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Bahnschrift SemiLight SemiConde" panose="020B0502040204020203" pitchFamily="34" charset="0"/>
              </a:rPr>
              <a:t>Thống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kê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sz="2400" dirty="0" err="1">
                <a:latin typeface="Bahnschrift SemiLight SemiConde" panose="020B0502040204020203" pitchFamily="34" charset="0"/>
              </a:rPr>
              <a:t>Chọn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đạt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giải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thưởng</a:t>
            </a:r>
            <a:r>
              <a:rPr lang="en-US" sz="2400" dirty="0">
                <a:latin typeface="Bahnschrift SemiLight SemiConde" panose="020B0502040204020203" pitchFamily="34" charset="0"/>
              </a:rPr>
              <a:t> (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có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điều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kiện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phù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hợp</a:t>
            </a:r>
            <a:r>
              <a:rPr lang="en-US" sz="2400" dirty="0">
                <a:latin typeface="Bahnschrift SemiLight SemiConde" panose="020B0502040204020203" pitchFamily="34" charset="0"/>
              </a:rPr>
              <a:t>)</a:t>
            </a:r>
          </a:p>
          <a:p>
            <a:pPr>
              <a:lnSpc>
                <a:spcPct val="150000"/>
              </a:lnSpc>
            </a:pPr>
            <a:endParaRPr lang="en-US" sz="3000" dirty="0">
              <a:latin typeface="Bahnschrift SemiBold Condensed" panose="020B0502040204020203" pitchFamily="34" charset="0"/>
            </a:endParaRPr>
          </a:p>
        </p:txBody>
      </p:sp>
      <p:sp>
        <p:nvSpPr>
          <p:cNvPr id="52" name="Right Triangle 51">
            <a:extLst>
              <a:ext uri="{FF2B5EF4-FFF2-40B4-BE49-F238E27FC236}">
                <a16:creationId xmlns:a16="http://schemas.microsoft.com/office/drawing/2014/main" id="{D68C1994-EACE-C5DF-BBC3-21F6E811E336}"/>
              </a:ext>
            </a:extLst>
          </p:cNvPr>
          <p:cNvSpPr/>
          <p:nvPr/>
        </p:nvSpPr>
        <p:spPr>
          <a:xfrm rot="10800000">
            <a:off x="7877910" y="-1"/>
            <a:ext cx="6752491" cy="8140735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Triangle 52">
            <a:extLst>
              <a:ext uri="{FF2B5EF4-FFF2-40B4-BE49-F238E27FC236}">
                <a16:creationId xmlns:a16="http://schemas.microsoft.com/office/drawing/2014/main" id="{39DCE060-C4DB-12D1-F0EC-C0C2FA79077B}"/>
              </a:ext>
            </a:extLst>
          </p:cNvPr>
          <p:cNvSpPr/>
          <p:nvPr/>
        </p:nvSpPr>
        <p:spPr>
          <a:xfrm rot="16200000">
            <a:off x="7195622" y="794822"/>
            <a:ext cx="6763245" cy="8106310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322025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52" grpId="0" animBg="1"/>
      <p:bldP spid="5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1358A17-9654-E817-4ABC-EE1AD14EF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0" y="7607263"/>
            <a:ext cx="2032000" cy="533474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074660AC-9B4D-61D6-7E89-A11D49CED7A0}"/>
              </a:ext>
            </a:extLst>
          </p:cNvPr>
          <p:cNvSpPr/>
          <p:nvPr/>
        </p:nvSpPr>
        <p:spPr>
          <a:xfrm>
            <a:off x="431839" y="518576"/>
            <a:ext cx="6320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Bahnschrift SemiBold Condensed" panose="020B0502040204020203" pitchFamily="34" charset="0"/>
              </a:rPr>
              <a:t>5. Phương </a:t>
            </a:r>
            <a:r>
              <a:rPr lang="en-US" sz="5400" dirty="0" err="1">
                <a:latin typeface="Bahnschrift SemiBold Condensed" panose="020B0502040204020203" pitchFamily="34" charset="0"/>
              </a:rPr>
              <a:t>pháp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nghiên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cứu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C65E49A4-D5E5-B6F0-B299-D49780EF9D09}"/>
              </a:ext>
            </a:extLst>
          </p:cNvPr>
          <p:cNvSpPr/>
          <p:nvPr/>
        </p:nvSpPr>
        <p:spPr>
          <a:xfrm>
            <a:off x="922534" y="1239313"/>
            <a:ext cx="60610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latin typeface="Bahnschrift SemiBold Condensed" panose="020B0502040204020203" pitchFamily="34" charset="0"/>
              </a:rPr>
              <a:t>5. 2. </a:t>
            </a:r>
            <a:r>
              <a:rPr lang="en-US" sz="3600" dirty="0" err="1">
                <a:latin typeface="Bahnschrift SemiBold Condensed" panose="020B0502040204020203" pitchFamily="34" charset="0"/>
              </a:rPr>
              <a:t>Phân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tích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và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cài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đặt</a:t>
            </a: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AutoShape 34">
            <a:extLst>
              <a:ext uri="{FF2B5EF4-FFF2-40B4-BE49-F238E27FC236}">
                <a16:creationId xmlns:a16="http://schemas.microsoft.com/office/drawing/2014/main" id="{23C1C960-FAA8-DDA5-CE89-6299402DA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4307581"/>
            <a:ext cx="1638300" cy="307975"/>
          </a:xfrm>
          <a:prstGeom prst="roundRect">
            <a:avLst>
              <a:gd name="adj" fmla="val 16667"/>
            </a:avLst>
          </a:prstGeom>
          <a:solidFill>
            <a:srgbClr val="92D05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Quản lý sinh viên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8">
            <a:extLst>
              <a:ext uri="{FF2B5EF4-FFF2-40B4-BE49-F238E27FC236}">
                <a16:creationId xmlns:a16="http://schemas.microsoft.com/office/drawing/2014/main" id="{C461AA30-2874-E857-FE71-DAEEE3D64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89263" y="4348856"/>
            <a:ext cx="1295400" cy="298450"/>
          </a:xfrm>
          <a:prstGeom prst="roundRect">
            <a:avLst>
              <a:gd name="adj" fmla="val 16667"/>
            </a:avLst>
          </a:prstGeom>
          <a:solidFill>
            <a:srgbClr val="CFCDCD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Xử lý dữ liệu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24">
            <a:extLst>
              <a:ext uri="{FF2B5EF4-FFF2-40B4-BE49-F238E27FC236}">
                <a16:creationId xmlns:a16="http://schemas.microsoft.com/office/drawing/2014/main" id="{11C48755-4679-DF59-BD8A-F5FDF1EA9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3575" y="4364731"/>
            <a:ext cx="1343025" cy="517525"/>
          </a:xfrm>
          <a:prstGeom prst="roundRect">
            <a:avLst>
              <a:gd name="adj" fmla="val 16667"/>
            </a:avLst>
          </a:prstGeom>
          <a:solidFill>
            <a:srgbClr val="FFC00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Hiển thị thông tin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16">
            <a:extLst>
              <a:ext uri="{FF2B5EF4-FFF2-40B4-BE49-F238E27FC236}">
                <a16:creationId xmlns:a16="http://schemas.microsoft.com/office/drawing/2014/main" id="{02900578-9383-4B09-388F-9FD29E15D5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8200" y="4348856"/>
            <a:ext cx="1609725" cy="533400"/>
          </a:xfrm>
          <a:prstGeom prst="roundRect">
            <a:avLst>
              <a:gd name="adj" fmla="val 16667"/>
            </a:avLst>
          </a:prstGeom>
          <a:solidFill>
            <a:srgbClr val="00B0F0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Điều khiển chương trình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AutoShape 33">
            <a:extLst>
              <a:ext uri="{FF2B5EF4-FFF2-40B4-BE49-F238E27FC236}">
                <a16:creationId xmlns:a16="http://schemas.microsoft.com/office/drawing/2014/main" id="{3122A8F2-AEA5-EB1B-BBB4-ABAE913B3B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150" y="5063231"/>
            <a:ext cx="1447800" cy="307975"/>
          </a:xfrm>
          <a:prstGeom prst="roundRect">
            <a:avLst>
              <a:gd name="adj" fmla="val 16667"/>
            </a:avLst>
          </a:prstGeom>
          <a:solidFill>
            <a:srgbClr val="C5E0B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Thêm sinh viên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AutoShape 32">
            <a:extLst>
              <a:ext uri="{FF2B5EF4-FFF2-40B4-BE49-F238E27FC236}">
                <a16:creationId xmlns:a16="http://schemas.microsoft.com/office/drawing/2014/main" id="{5BA2BDC5-52C0-EE37-6938-FD6D630462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75" y="5528368"/>
            <a:ext cx="1447800" cy="546100"/>
          </a:xfrm>
          <a:prstGeom prst="roundRect">
            <a:avLst>
              <a:gd name="adj" fmla="val 16667"/>
            </a:avLst>
          </a:prstGeom>
          <a:solidFill>
            <a:srgbClr val="C5E0B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Sửa thông tin sinh viên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AutoShape 31">
            <a:extLst>
              <a:ext uri="{FF2B5EF4-FFF2-40B4-BE49-F238E27FC236}">
                <a16:creationId xmlns:a16="http://schemas.microsoft.com/office/drawing/2014/main" id="{E332006E-490E-0BB9-7CE0-EDDC611BA9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725" y="6337993"/>
            <a:ext cx="1447800" cy="307975"/>
          </a:xfrm>
          <a:prstGeom prst="roundRect">
            <a:avLst>
              <a:gd name="adj" fmla="val 16667"/>
            </a:avLst>
          </a:prstGeom>
          <a:solidFill>
            <a:srgbClr val="C5E0B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Xóa sinh viên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AutoShape 30">
            <a:extLst>
              <a:ext uri="{FF2B5EF4-FFF2-40B4-BE49-F238E27FC236}">
                <a16:creationId xmlns:a16="http://schemas.microsoft.com/office/drawing/2014/main" id="{C63A3DD4-FD3A-946F-D506-4C75040D81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55725" y="6888856"/>
            <a:ext cx="1447800" cy="517525"/>
          </a:xfrm>
          <a:prstGeom prst="roundRect">
            <a:avLst>
              <a:gd name="adj" fmla="val 16667"/>
            </a:avLst>
          </a:prstGeom>
          <a:solidFill>
            <a:srgbClr val="C5E0B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Tìm kiếm sinh viên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29">
            <a:extLst>
              <a:ext uri="{FF2B5EF4-FFF2-40B4-BE49-F238E27FC236}">
                <a16:creationId xmlns:a16="http://schemas.microsoft.com/office/drawing/2014/main" id="{F752DF0E-D8FD-4B13-2686-7E243A1D2D0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4521893"/>
            <a:ext cx="28575" cy="24669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6" name="AutoShape 28">
            <a:extLst>
              <a:ext uri="{FF2B5EF4-FFF2-40B4-BE49-F238E27FC236}">
                <a16:creationId xmlns:a16="http://schemas.microsoft.com/office/drawing/2014/main" id="{A3FEB0ED-7851-00F9-8C21-090C9BF11AAC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5241031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7" name="AutoShape 27">
            <a:extLst>
              <a:ext uri="{FF2B5EF4-FFF2-40B4-BE49-F238E27FC236}">
                <a16:creationId xmlns:a16="http://schemas.microsoft.com/office/drawing/2014/main" id="{30886F62-235C-6D39-1674-0E0BDC49D4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79500" y="5704581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8" name="AutoShape 26">
            <a:extLst>
              <a:ext uri="{FF2B5EF4-FFF2-40B4-BE49-F238E27FC236}">
                <a16:creationId xmlns:a16="http://schemas.microsoft.com/office/drawing/2014/main" id="{2B7D62FE-8D34-5674-4BC8-89E2A6D22457}"/>
              </a:ext>
            </a:extLst>
          </p:cNvPr>
          <p:cNvSpPr>
            <a:spLocks noChangeShapeType="1"/>
          </p:cNvSpPr>
          <p:nvPr/>
        </p:nvSpPr>
        <p:spPr bwMode="auto">
          <a:xfrm>
            <a:off x="1108075" y="6496743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" name="AutoShape 25">
            <a:extLst>
              <a:ext uri="{FF2B5EF4-FFF2-40B4-BE49-F238E27FC236}">
                <a16:creationId xmlns:a16="http://schemas.microsoft.com/office/drawing/2014/main" id="{0DDBD190-A9C2-87CE-706B-92721954A666}"/>
              </a:ext>
            </a:extLst>
          </p:cNvPr>
          <p:cNvSpPr>
            <a:spLocks noChangeShapeType="1"/>
          </p:cNvSpPr>
          <p:nvPr/>
        </p:nvSpPr>
        <p:spPr bwMode="auto">
          <a:xfrm>
            <a:off x="1128712" y="7052368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AutoShape 7">
            <a:extLst>
              <a:ext uri="{FF2B5EF4-FFF2-40B4-BE49-F238E27FC236}">
                <a16:creationId xmlns:a16="http://schemas.microsoft.com/office/drawing/2014/main" id="{79019F97-0420-B375-D580-26DC9DFB3BF6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9263" y="4556818"/>
            <a:ext cx="39687" cy="203358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1" name="AutoShape 6">
            <a:extLst>
              <a:ext uri="{FF2B5EF4-FFF2-40B4-BE49-F238E27FC236}">
                <a16:creationId xmlns:a16="http://schemas.microsoft.com/office/drawing/2014/main" id="{BB2A547D-34BB-C61F-A532-19979377757E}"/>
              </a:ext>
            </a:extLst>
          </p:cNvPr>
          <p:cNvSpPr>
            <a:spLocks noChangeShapeType="1"/>
          </p:cNvSpPr>
          <p:nvPr/>
        </p:nvSpPr>
        <p:spPr bwMode="auto">
          <a:xfrm>
            <a:off x="2989263" y="5252143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2" name="AutoShape 5">
            <a:extLst>
              <a:ext uri="{FF2B5EF4-FFF2-40B4-BE49-F238E27FC236}">
                <a16:creationId xmlns:a16="http://schemas.microsoft.com/office/drawing/2014/main" id="{26BF4681-CA70-82D7-4A98-420A239DA929}"/>
              </a:ext>
            </a:extLst>
          </p:cNvPr>
          <p:cNvSpPr>
            <a:spLocks noChangeShapeType="1"/>
          </p:cNvSpPr>
          <p:nvPr/>
        </p:nvSpPr>
        <p:spPr bwMode="auto">
          <a:xfrm>
            <a:off x="3009900" y="6106218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AutoShape 4">
            <a:extLst>
              <a:ext uri="{FF2B5EF4-FFF2-40B4-BE49-F238E27FC236}">
                <a16:creationId xmlns:a16="http://schemas.microsoft.com/office/drawing/2014/main" id="{E10E194D-EC8A-0EA5-AC0B-BD2ABC30E9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028950" y="6634856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4" name="AutoShape 3">
            <a:extLst>
              <a:ext uri="{FF2B5EF4-FFF2-40B4-BE49-F238E27FC236}">
                <a16:creationId xmlns:a16="http://schemas.microsoft.com/office/drawing/2014/main" id="{E42B8DD3-F80B-F930-B38B-5EB02CEA7B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6275" y="5104506"/>
            <a:ext cx="1104900" cy="48895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Cấp phát bộ nhớ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5" name="AutoShape 2">
            <a:extLst>
              <a:ext uri="{FF2B5EF4-FFF2-40B4-BE49-F238E27FC236}">
                <a16:creationId xmlns:a16="http://schemas.microsoft.com/office/drawing/2014/main" id="{C1E8F4FC-8440-209B-510B-62896D0490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55963" y="5833168"/>
            <a:ext cx="1104900" cy="48895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Liên kết danh sách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6" name="AutoShape 1">
            <a:extLst>
              <a:ext uri="{FF2B5EF4-FFF2-40B4-BE49-F238E27FC236}">
                <a16:creationId xmlns:a16="http://schemas.microsoft.com/office/drawing/2014/main" id="{1C7549A8-A27D-5129-33E6-02B8CE7B0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67075" y="6491981"/>
            <a:ext cx="1104900" cy="469900"/>
          </a:xfrm>
          <a:prstGeom prst="roundRect">
            <a:avLst>
              <a:gd name="adj" fmla="val 16667"/>
            </a:avLst>
          </a:prstGeom>
          <a:solidFill>
            <a:srgbClr val="F2F2F2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Giải phóng bộ nhớ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7" name="AutoShape 23">
            <a:extLst>
              <a:ext uri="{FF2B5EF4-FFF2-40B4-BE49-F238E27FC236}">
                <a16:creationId xmlns:a16="http://schemas.microsoft.com/office/drawing/2014/main" id="{7E641FDF-1283-6FD4-93DA-8880FC96D41B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3575" y="4613968"/>
            <a:ext cx="25400" cy="21050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8" name="AutoShape 22">
            <a:extLst>
              <a:ext uri="{FF2B5EF4-FFF2-40B4-BE49-F238E27FC236}">
                <a16:creationId xmlns:a16="http://schemas.microsoft.com/office/drawing/2014/main" id="{BB35116B-B84E-8570-EC02-17D2E8ADC327}"/>
              </a:ext>
            </a:extLst>
          </p:cNvPr>
          <p:cNvSpPr>
            <a:spLocks noChangeShapeType="1"/>
          </p:cNvSpPr>
          <p:nvPr/>
        </p:nvSpPr>
        <p:spPr bwMode="auto">
          <a:xfrm>
            <a:off x="4473575" y="5309293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9" name="AutoShape 21">
            <a:extLst>
              <a:ext uri="{FF2B5EF4-FFF2-40B4-BE49-F238E27FC236}">
                <a16:creationId xmlns:a16="http://schemas.microsoft.com/office/drawing/2014/main" id="{292C0AC0-3F52-3747-C7E2-4E5203CA8B53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8975" y="6122093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0" name="AutoShape 20">
            <a:extLst>
              <a:ext uri="{FF2B5EF4-FFF2-40B4-BE49-F238E27FC236}">
                <a16:creationId xmlns:a16="http://schemas.microsoft.com/office/drawing/2014/main" id="{CB66DF3E-319A-C4D7-DD02-0ACF9ED7AD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498975" y="6796781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1" name="AutoShape 15">
            <a:extLst>
              <a:ext uri="{FF2B5EF4-FFF2-40B4-BE49-F238E27FC236}">
                <a16:creationId xmlns:a16="http://schemas.microsoft.com/office/drawing/2014/main" id="{AA19EB94-2FBB-316B-9083-C026F8533981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4585393"/>
            <a:ext cx="19050" cy="15716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2" name="AutoShape 14">
            <a:extLst>
              <a:ext uri="{FF2B5EF4-FFF2-40B4-BE49-F238E27FC236}">
                <a16:creationId xmlns:a16="http://schemas.microsoft.com/office/drawing/2014/main" id="{7BA4303E-41A3-F718-B949-FAF92C002D14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5280718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3" name="AutoShape 13">
            <a:extLst>
              <a:ext uri="{FF2B5EF4-FFF2-40B4-BE49-F238E27FC236}">
                <a16:creationId xmlns:a16="http://schemas.microsoft.com/office/drawing/2014/main" id="{53B13F35-67CC-0579-1C57-EEC5AC49FB1E}"/>
              </a:ext>
            </a:extLst>
          </p:cNvPr>
          <p:cNvSpPr>
            <a:spLocks noChangeShapeType="1"/>
          </p:cNvSpPr>
          <p:nvPr/>
        </p:nvSpPr>
        <p:spPr bwMode="auto">
          <a:xfrm>
            <a:off x="5918200" y="5728393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4" name="AutoShape 12">
            <a:extLst>
              <a:ext uri="{FF2B5EF4-FFF2-40B4-BE49-F238E27FC236}">
                <a16:creationId xmlns:a16="http://schemas.microsoft.com/office/drawing/2014/main" id="{5DBC6C9B-11EF-2794-848C-C521C686BBBB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7250" y="6172893"/>
            <a:ext cx="2286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5" name="AutoShape 19">
            <a:extLst>
              <a:ext uri="{FF2B5EF4-FFF2-40B4-BE49-F238E27FC236}">
                <a16:creationId xmlns:a16="http://schemas.microsoft.com/office/drawing/2014/main" id="{A75E5599-1F0D-F2EE-129B-E281551FF4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4550" y="5150543"/>
            <a:ext cx="1139825" cy="503238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Hiển thị danh sách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6" name="AutoShape 18">
            <a:extLst>
              <a:ext uri="{FF2B5EF4-FFF2-40B4-BE49-F238E27FC236}">
                <a16:creationId xmlns:a16="http://schemas.microsoft.com/office/drawing/2014/main" id="{2E8C6BC2-42E0-DC13-0C06-9862648D8E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175" y="5833168"/>
            <a:ext cx="1139825" cy="552450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Hiển thị thông báo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7" name="AutoShape 17">
            <a:extLst>
              <a:ext uri="{FF2B5EF4-FFF2-40B4-BE49-F238E27FC236}">
                <a16:creationId xmlns:a16="http://schemas.microsoft.com/office/drawing/2014/main" id="{3B669A91-B51F-117A-5100-0BFC75F0A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2175" y="6557068"/>
            <a:ext cx="1139825" cy="557213"/>
          </a:xfrm>
          <a:prstGeom prst="roundRect">
            <a:avLst>
              <a:gd name="adj" fmla="val 16667"/>
            </a:avLst>
          </a:prstGeom>
          <a:solidFill>
            <a:srgbClr val="FFE599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Hiển thị menu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8" name="AutoShape 11">
            <a:extLst>
              <a:ext uri="{FF2B5EF4-FFF2-40B4-BE49-F238E27FC236}">
                <a16:creationId xmlns:a16="http://schemas.microsoft.com/office/drawing/2014/main" id="{26850CA0-306E-3AB7-E254-844D15706A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8225" y="5155306"/>
            <a:ext cx="1354138" cy="284162"/>
          </a:xfrm>
          <a:prstGeom prst="roundRect">
            <a:avLst>
              <a:gd name="adj" fmla="val 16667"/>
            </a:avLst>
          </a:prstGeom>
          <a:solidFill>
            <a:srgbClr val="D9E2F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Nhận lựa chọn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AutoShape 10">
            <a:extLst>
              <a:ext uri="{FF2B5EF4-FFF2-40B4-BE49-F238E27FC236}">
                <a16:creationId xmlns:a16="http://schemas.microsoft.com/office/drawing/2014/main" id="{56F431DE-B986-5C4D-63A0-44F697C10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27750" y="5633143"/>
            <a:ext cx="1344613" cy="304800"/>
          </a:xfrm>
          <a:prstGeom prst="roundRect">
            <a:avLst>
              <a:gd name="adj" fmla="val 16667"/>
            </a:avLst>
          </a:prstGeom>
          <a:solidFill>
            <a:srgbClr val="D9E2F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Gọi chức năng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0" name="AutoShape 9">
            <a:extLst>
              <a:ext uri="{FF2B5EF4-FFF2-40B4-BE49-F238E27FC236}">
                <a16:creationId xmlns:a16="http://schemas.microsoft.com/office/drawing/2014/main" id="{08D6C0E2-2957-92C5-A27B-019C427509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45213" y="6091930"/>
            <a:ext cx="1609725" cy="457197"/>
          </a:xfrm>
          <a:prstGeom prst="roundRect">
            <a:avLst>
              <a:gd name="adj" fmla="val 16667"/>
            </a:avLst>
          </a:prstGeom>
          <a:solidFill>
            <a:srgbClr val="D9E2F3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Thoát chương trình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Rectangle 37">
            <a:extLst>
              <a:ext uri="{FF2B5EF4-FFF2-40B4-BE49-F238E27FC236}">
                <a16:creationId xmlns:a16="http://schemas.microsoft.com/office/drawing/2014/main" id="{CE5E9BF6-1BD9-BEE4-428E-D53D84069B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675" y="2669024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3" name="Rectangle 56">
            <a:extLst>
              <a:ext uri="{FF2B5EF4-FFF2-40B4-BE49-F238E27FC236}">
                <a16:creationId xmlns:a16="http://schemas.microsoft.com/office/drawing/2014/main" id="{D9C3CD80-BC95-BA1E-D125-4DF41DB69B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675" y="3583424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sp>
        <p:nvSpPr>
          <p:cNvPr id="44" name="AutoShape 62">
            <a:extLst>
              <a:ext uri="{FF2B5EF4-FFF2-40B4-BE49-F238E27FC236}">
                <a16:creationId xmlns:a16="http://schemas.microsoft.com/office/drawing/2014/main" id="{F83C9C96-F0B9-A03B-675A-EF2EF0DF92DE}"/>
              </a:ext>
            </a:extLst>
          </p:cNvPr>
          <p:cNvSpPr>
            <a:spLocks noChangeShapeType="1"/>
          </p:cNvSpPr>
          <p:nvPr/>
        </p:nvSpPr>
        <p:spPr bwMode="auto">
          <a:xfrm>
            <a:off x="4164013" y="3366839"/>
            <a:ext cx="7937" cy="29368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5" name="AutoShape 61">
            <a:extLst>
              <a:ext uri="{FF2B5EF4-FFF2-40B4-BE49-F238E27FC236}">
                <a16:creationId xmlns:a16="http://schemas.microsoft.com/office/drawing/2014/main" id="{5E92CBF1-BCB4-B058-9F15-C1143ED977AE}"/>
              </a:ext>
            </a:extLst>
          </p:cNvPr>
          <p:cNvSpPr>
            <a:spLocks noChangeShapeType="1"/>
          </p:cNvSpPr>
          <p:nvPr/>
        </p:nvSpPr>
        <p:spPr bwMode="auto">
          <a:xfrm>
            <a:off x="1692275" y="3668464"/>
            <a:ext cx="5016500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AutoShape 60">
            <a:extLst>
              <a:ext uri="{FF2B5EF4-FFF2-40B4-BE49-F238E27FC236}">
                <a16:creationId xmlns:a16="http://schemas.microsoft.com/office/drawing/2014/main" id="{A7B31820-0C9F-4343-39E3-D455FA29CECC}"/>
              </a:ext>
            </a:extLst>
          </p:cNvPr>
          <p:cNvSpPr>
            <a:spLocks noChangeShapeType="1"/>
          </p:cNvSpPr>
          <p:nvPr/>
        </p:nvSpPr>
        <p:spPr bwMode="auto">
          <a:xfrm>
            <a:off x="1682750" y="3668464"/>
            <a:ext cx="0" cy="6191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7" name="AutoShape 59">
            <a:extLst>
              <a:ext uri="{FF2B5EF4-FFF2-40B4-BE49-F238E27FC236}">
                <a16:creationId xmlns:a16="http://schemas.microsoft.com/office/drawing/2014/main" id="{F4CEB7CD-29C4-49BB-F91C-2A92AC44735C}"/>
              </a:ext>
            </a:extLst>
          </p:cNvPr>
          <p:cNvSpPr>
            <a:spLocks noChangeShapeType="1"/>
          </p:cNvSpPr>
          <p:nvPr/>
        </p:nvSpPr>
        <p:spPr bwMode="auto">
          <a:xfrm>
            <a:off x="3536950" y="3671639"/>
            <a:ext cx="9525" cy="6635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8" name="AutoShape 58">
            <a:extLst>
              <a:ext uri="{FF2B5EF4-FFF2-40B4-BE49-F238E27FC236}">
                <a16:creationId xmlns:a16="http://schemas.microsoft.com/office/drawing/2014/main" id="{87F81FEB-C7B6-14AA-4563-5EAB9C22C68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56200" y="3698627"/>
            <a:ext cx="0" cy="6540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9" name="AutoShape 57">
            <a:extLst>
              <a:ext uri="{FF2B5EF4-FFF2-40B4-BE49-F238E27FC236}">
                <a16:creationId xmlns:a16="http://schemas.microsoft.com/office/drawing/2014/main" id="{B288C19A-21F9-F65C-6988-26732CF9A1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8775" y="3687514"/>
            <a:ext cx="0" cy="61912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0" name="Rectangle 63">
            <a:extLst>
              <a:ext uri="{FF2B5EF4-FFF2-40B4-BE49-F238E27FC236}">
                <a16:creationId xmlns:a16="http://schemas.microsoft.com/office/drawing/2014/main" id="{A77F6078-B219-AE83-BC32-D2EAFCB6B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63675" y="2231520"/>
            <a:ext cx="14630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3634F754-3093-B716-705D-DD37B4ADD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1470" y="2879221"/>
            <a:ext cx="5678110" cy="565405"/>
          </a:xfrm>
          <a:prstGeom prst="rect">
            <a:avLst/>
          </a:prstGeom>
        </p:spPr>
      </p:pic>
      <p:sp>
        <p:nvSpPr>
          <p:cNvPr id="54" name="Text 0">
            <a:extLst>
              <a:ext uri="{FF2B5EF4-FFF2-40B4-BE49-F238E27FC236}">
                <a16:creationId xmlns:a16="http://schemas.microsoft.com/office/drawing/2014/main" id="{D459501E-5381-55F2-DE85-7A505F8B269A}"/>
              </a:ext>
            </a:extLst>
          </p:cNvPr>
          <p:cNvSpPr/>
          <p:nvPr/>
        </p:nvSpPr>
        <p:spPr>
          <a:xfrm>
            <a:off x="431839" y="1907660"/>
            <a:ext cx="8058844" cy="6477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r>
              <a:rPr lang="en-US" sz="2800" dirty="0" err="1">
                <a:latin typeface="Bahnschrift SemiLight SemiConde" panose="020B0502040204020203" pitchFamily="34" charset="0"/>
              </a:rPr>
              <a:t>Hệ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thống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được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thiết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kế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theo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mô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hình</a:t>
            </a:r>
            <a:r>
              <a:rPr lang="en-US" sz="2800" dirty="0">
                <a:latin typeface="Bahnschrift SemiLight SemiConde" panose="020B0502040204020203" pitchFamily="34" charset="0"/>
              </a:rPr>
              <a:t> menu </a:t>
            </a:r>
            <a:r>
              <a:rPr lang="en-US" sz="2800" dirty="0" err="1">
                <a:latin typeface="Bahnschrift SemiLight SemiConde" panose="020B0502040204020203" pitchFamily="34" charset="0"/>
              </a:rPr>
              <a:t>chức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năng</a:t>
            </a:r>
            <a:r>
              <a:rPr lang="en-US" sz="2800" dirty="0">
                <a:latin typeface="Bahnschrift SemiLight SemiConde" panose="020B0502040204020203" pitchFamily="34" charset="0"/>
              </a:rPr>
              <a:t>, </a:t>
            </a:r>
            <a:r>
              <a:rPr lang="en-US" sz="2800" dirty="0" err="1">
                <a:latin typeface="Bahnschrift SemiLight SemiConde" panose="020B0502040204020203" pitchFamily="34" charset="0"/>
              </a:rPr>
              <a:t>được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minh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họa</a:t>
            </a:r>
            <a:r>
              <a:rPr lang="en-US" sz="2800" dirty="0">
                <a:latin typeface="Bahnschrift SemiLight SemiConde" panose="020B0502040204020203" pitchFamily="34" charset="0"/>
              </a:rPr>
              <a:t> qua </a:t>
            </a:r>
            <a:r>
              <a:rPr lang="en-US" sz="2800" dirty="0" err="1">
                <a:latin typeface="Bahnschrift SemiLight SemiConde" panose="020B0502040204020203" pitchFamily="34" charset="0"/>
              </a:rPr>
              <a:t>sơ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đồ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sau</a:t>
            </a:r>
            <a:r>
              <a:rPr lang="en-US" sz="2800" dirty="0">
                <a:latin typeface="Bahnschrift SemiLight SemiConde" panose="020B0502040204020203" pitchFamily="34" charset="0"/>
              </a:rPr>
              <a:t>:</a:t>
            </a:r>
            <a:endParaRPr lang="en-US" sz="4800" dirty="0">
              <a:latin typeface="Bahnschrift SemiLight SemiConde" panose="020B0502040204020203" pitchFamily="34" charset="0"/>
            </a:endParaRPr>
          </a:p>
        </p:txBody>
      </p:sp>
      <p:sp>
        <p:nvSpPr>
          <p:cNvPr id="55" name="Right Triangle 54">
            <a:extLst>
              <a:ext uri="{FF2B5EF4-FFF2-40B4-BE49-F238E27FC236}">
                <a16:creationId xmlns:a16="http://schemas.microsoft.com/office/drawing/2014/main" id="{04D1925A-7032-4614-21C6-C43A344DE1C3}"/>
              </a:ext>
            </a:extLst>
          </p:cNvPr>
          <p:cNvSpPr/>
          <p:nvPr/>
        </p:nvSpPr>
        <p:spPr>
          <a:xfrm rot="10800000">
            <a:off x="11263312" y="-3"/>
            <a:ext cx="3367087" cy="8140737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Right Triangle 55">
            <a:extLst>
              <a:ext uri="{FF2B5EF4-FFF2-40B4-BE49-F238E27FC236}">
                <a16:creationId xmlns:a16="http://schemas.microsoft.com/office/drawing/2014/main" id="{D6A2332D-EF67-89B8-BB97-6A5884846F8E}"/>
              </a:ext>
            </a:extLst>
          </p:cNvPr>
          <p:cNvSpPr/>
          <p:nvPr/>
        </p:nvSpPr>
        <p:spPr>
          <a:xfrm rot="16200000">
            <a:off x="7133964" y="644291"/>
            <a:ext cx="6674373" cy="8318500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0688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9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5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4" grpId="0" animBg="1"/>
      <p:bldP spid="55" grpId="0" animBg="1"/>
      <p:bldP spid="5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9B6FE349-B0E5-8A99-2F16-429772C036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91326" y="7391347"/>
            <a:ext cx="1996029" cy="762106"/>
          </a:xfrm>
          <a:prstGeom prst="rect">
            <a:avLst/>
          </a:prstGeom>
        </p:spPr>
      </p:pic>
      <p:sp>
        <p:nvSpPr>
          <p:cNvPr id="2" name="Right Triangle 1">
            <a:extLst>
              <a:ext uri="{FF2B5EF4-FFF2-40B4-BE49-F238E27FC236}">
                <a16:creationId xmlns:a16="http://schemas.microsoft.com/office/drawing/2014/main" id="{9509BE54-183F-A0FD-43DE-C448CC13A1FA}"/>
              </a:ext>
            </a:extLst>
          </p:cNvPr>
          <p:cNvSpPr/>
          <p:nvPr/>
        </p:nvSpPr>
        <p:spPr>
          <a:xfrm rot="10800000">
            <a:off x="7891157" y="0"/>
            <a:ext cx="6752491" cy="8140735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ight Triangle 2">
            <a:extLst>
              <a:ext uri="{FF2B5EF4-FFF2-40B4-BE49-F238E27FC236}">
                <a16:creationId xmlns:a16="http://schemas.microsoft.com/office/drawing/2014/main" id="{688474DF-D6EF-C648-2810-920DAF70AFCC}"/>
              </a:ext>
            </a:extLst>
          </p:cNvPr>
          <p:cNvSpPr/>
          <p:nvPr/>
        </p:nvSpPr>
        <p:spPr>
          <a:xfrm rot="16200000">
            <a:off x="8524203" y="2075103"/>
            <a:ext cx="6752491" cy="5486400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82960534-00C9-864E-DEA6-7BB7BFC824DD}"/>
              </a:ext>
            </a:extLst>
          </p:cNvPr>
          <p:cNvSpPr/>
          <p:nvPr/>
        </p:nvSpPr>
        <p:spPr>
          <a:xfrm>
            <a:off x="431839" y="518576"/>
            <a:ext cx="6320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Bahnschrift SemiBold Condensed" panose="020B0502040204020203" pitchFamily="34" charset="0"/>
              </a:rPr>
              <a:t>5. Phương </a:t>
            </a:r>
            <a:r>
              <a:rPr lang="en-US" sz="5400" dirty="0" err="1">
                <a:latin typeface="Bahnschrift SemiBold Condensed" panose="020B0502040204020203" pitchFamily="34" charset="0"/>
              </a:rPr>
              <a:t>pháp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nghiên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cứu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3AD88CD8-E94D-266A-BC49-40A552665F71}"/>
              </a:ext>
            </a:extLst>
          </p:cNvPr>
          <p:cNvSpPr/>
          <p:nvPr/>
        </p:nvSpPr>
        <p:spPr>
          <a:xfrm>
            <a:off x="922534" y="1239313"/>
            <a:ext cx="60610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latin typeface="Bahnschrift SemiBold Condensed" panose="020B0502040204020203" pitchFamily="34" charset="0"/>
              </a:rPr>
              <a:t>5. 2. </a:t>
            </a:r>
            <a:r>
              <a:rPr lang="en-US" sz="3600" dirty="0" err="1">
                <a:latin typeface="Bahnschrift SemiBold Condensed" panose="020B0502040204020203" pitchFamily="34" charset="0"/>
              </a:rPr>
              <a:t>Phân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tích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và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cài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đặt</a:t>
            </a: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7" name="Text 0">
            <a:extLst>
              <a:ext uri="{FF2B5EF4-FFF2-40B4-BE49-F238E27FC236}">
                <a16:creationId xmlns:a16="http://schemas.microsoft.com/office/drawing/2014/main" id="{598035FE-54B1-AECA-DF92-0975313A2C0D}"/>
              </a:ext>
            </a:extLst>
          </p:cNvPr>
          <p:cNvSpPr/>
          <p:nvPr/>
        </p:nvSpPr>
        <p:spPr>
          <a:xfrm>
            <a:off x="1290639" y="1887032"/>
            <a:ext cx="7956103" cy="49966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5550"/>
              </a:lnSpc>
            </a:pPr>
            <a:endParaRPr lang="en-US" sz="4400" dirty="0">
              <a:latin typeface="Bahnschrift SemiLight SemiConde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673BDC-E445-78F7-548B-8ADCD5CD8909}"/>
              </a:ext>
            </a:extLst>
          </p:cNvPr>
          <p:cNvSpPr txBox="1"/>
          <p:nvPr/>
        </p:nvSpPr>
        <p:spPr>
          <a:xfrm>
            <a:off x="1066260" y="1795938"/>
            <a:ext cx="9424371" cy="90932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Bahnschrift SemiLight SemiConde" panose="020B0502040204020203" pitchFamily="34" charset="0"/>
              </a:rPr>
              <a:t>Công </a:t>
            </a:r>
            <a:r>
              <a:rPr lang="en-US" sz="3600" dirty="0" err="1">
                <a:latin typeface="Bahnschrift SemiLight SemiConde" panose="020B0502040204020203" pitchFamily="34" charset="0"/>
              </a:rPr>
              <a:t>cụ</a:t>
            </a:r>
            <a:r>
              <a:rPr lang="en-US" sz="3600" dirty="0">
                <a:latin typeface="Bahnschrift SemiLight SemiConde" panose="020B0502040204020203" pitchFamily="34" charset="0"/>
              </a:rPr>
              <a:t> </a:t>
            </a:r>
            <a:r>
              <a:rPr lang="en-US" sz="3600" dirty="0" err="1">
                <a:latin typeface="Bahnschrift SemiLight SemiConde" panose="020B0502040204020203" pitchFamily="34" charset="0"/>
              </a:rPr>
              <a:t>sử</a:t>
            </a:r>
            <a:r>
              <a:rPr lang="en-US" sz="3600" dirty="0">
                <a:latin typeface="Bahnschrift SemiLight SemiConde" panose="020B0502040204020203" pitchFamily="34" charset="0"/>
              </a:rPr>
              <a:t> </a:t>
            </a:r>
            <a:r>
              <a:rPr lang="en-US" sz="3600" dirty="0" err="1">
                <a:latin typeface="Bahnschrift SemiLight SemiConde" panose="020B0502040204020203" pitchFamily="34" charset="0"/>
              </a:rPr>
              <a:t>dụng</a:t>
            </a:r>
            <a:r>
              <a:rPr lang="en-US" sz="3600" dirty="0">
                <a:latin typeface="Bahnschrift SemiLight SemiConde" panose="020B0502040204020203" pitchFamily="34" charset="0"/>
              </a:rPr>
              <a:t>: </a:t>
            </a:r>
            <a:r>
              <a:rPr lang="en-US" sz="3600" dirty="0" err="1">
                <a:latin typeface="Bahnschrift SemiLight SemiConde" panose="020B0502040204020203" pitchFamily="34" charset="0"/>
              </a:rPr>
              <a:t>DevC</a:t>
            </a:r>
            <a:endParaRPr lang="en-US" sz="3600" dirty="0">
              <a:latin typeface="Bahnschrift SemiLight SemiConde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3600" dirty="0">
                <a:latin typeface="Bahnschrift SemiLight SemiConde" panose="020B0502040204020203" pitchFamily="34" charset="0"/>
              </a:rPr>
              <a:t>Các </a:t>
            </a:r>
            <a:r>
              <a:rPr lang="en-US" sz="3600" dirty="0" err="1">
                <a:latin typeface="Bahnschrift SemiLight SemiConde" panose="020B0502040204020203" pitchFamily="34" charset="0"/>
              </a:rPr>
              <a:t>bước</a:t>
            </a:r>
            <a:r>
              <a:rPr lang="en-US" sz="3600" dirty="0">
                <a:latin typeface="Bahnschrift SemiLight SemiConde" panose="020B0502040204020203" pitchFamily="34" charset="0"/>
              </a:rPr>
              <a:t> </a:t>
            </a:r>
            <a:r>
              <a:rPr lang="en-US" sz="3600" dirty="0" err="1">
                <a:latin typeface="Bahnschrift SemiLight SemiConde" panose="020B0502040204020203" pitchFamily="34" charset="0"/>
              </a:rPr>
              <a:t>tiến</a:t>
            </a:r>
            <a:r>
              <a:rPr lang="en-US" sz="3600" dirty="0">
                <a:latin typeface="Bahnschrift SemiLight SemiConde" panose="020B0502040204020203" pitchFamily="34" charset="0"/>
              </a:rPr>
              <a:t> </a:t>
            </a:r>
            <a:r>
              <a:rPr lang="en-US" sz="3600" dirty="0" err="1">
                <a:latin typeface="Bahnschrift SemiLight SemiConde" panose="020B0502040204020203" pitchFamily="34" charset="0"/>
              </a:rPr>
              <a:t>hành</a:t>
            </a:r>
            <a:r>
              <a:rPr lang="en-US" sz="3600" dirty="0">
                <a:latin typeface="Bahnschrift SemiLight SemiConde" panose="020B0502040204020203" pitchFamily="34" charset="0"/>
              </a:rPr>
              <a:t>: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Lên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kế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hoạch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và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phân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tích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yêu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cầu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hệ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thống</a:t>
            </a:r>
            <a:endParaRPr lang="en-US" sz="2800" spc="-48" dirty="0">
              <a:latin typeface="Bahnschrift SemiLight SemiConde" panose="020B0502040204020203" pitchFamily="34" charset="0"/>
              <a:ea typeface="Arial Bold"/>
              <a:cs typeface="Arial Bold"/>
              <a:sym typeface="Arial Bold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Thiết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kế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các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hàm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cần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thiết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để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phù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hợp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với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các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chức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năng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cần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có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của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hệ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thống</a:t>
            </a:r>
            <a:endParaRPr lang="en-US" sz="2800" spc="-48" dirty="0">
              <a:latin typeface="Bahnschrift SemiLight SemiConde" panose="020B0502040204020203" pitchFamily="34" charset="0"/>
              <a:ea typeface="Arial Bold"/>
              <a:cs typeface="Arial Bold"/>
              <a:sym typeface="Arial Bold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Thiết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kế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một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giao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diện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menu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đơn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giản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để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dễ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dàng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sử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dụng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các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chức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năng</a:t>
            </a:r>
            <a:endParaRPr lang="en-US" sz="2800" spc="-48" dirty="0">
              <a:latin typeface="Bahnschrift SemiLight SemiConde" panose="020B0502040204020203" pitchFamily="34" charset="0"/>
              <a:ea typeface="Arial Bold"/>
              <a:cs typeface="Arial Bold"/>
              <a:sym typeface="Arial Bold"/>
            </a:endParaRP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Kiểm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thử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và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chỉnh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sửa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Triển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khai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và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đánh</a:t>
            </a:r>
            <a:r>
              <a:rPr lang="en-US" sz="2800" spc="-48" dirty="0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 </a:t>
            </a:r>
            <a:r>
              <a:rPr lang="en-US" sz="2800" spc="-48" dirty="0" err="1">
                <a:latin typeface="Bahnschrift SemiLight SemiConde" panose="020B0502040204020203" pitchFamily="34" charset="0"/>
                <a:ea typeface="Arial Bold"/>
                <a:cs typeface="Arial Bold"/>
                <a:sym typeface="Arial Bold"/>
              </a:rPr>
              <a:t>giá</a:t>
            </a:r>
            <a:endParaRPr lang="en-US" sz="2800" spc="-48" dirty="0">
              <a:latin typeface="Bahnschrift SemiLight SemiConde" panose="020B0502040204020203" pitchFamily="34" charset="0"/>
              <a:ea typeface="Arial Bold"/>
              <a:cs typeface="Arial Bold"/>
              <a:sym typeface="Arial Bold"/>
            </a:endParaRPr>
          </a:p>
          <a:p>
            <a:pPr>
              <a:lnSpc>
                <a:spcPct val="150000"/>
              </a:lnSpc>
            </a:pPr>
            <a:endParaRPr lang="en-US" sz="3200" dirty="0">
              <a:latin typeface="Bahnschrift SemiLight SemiConde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3200" b="1" dirty="0">
              <a:latin typeface="Bahnschrift SemiBold Condensed" panose="020B0502040204020203" pitchFamily="34" charset="0"/>
            </a:endParaRPr>
          </a:p>
          <a:p>
            <a:pPr marL="457200" indent="-457200">
              <a:lnSpc>
                <a:spcPct val="150000"/>
              </a:lnSpc>
              <a:buFontTx/>
              <a:buChar char="-"/>
            </a:pPr>
            <a:endParaRPr lang="en-US" sz="3200" b="1" dirty="0">
              <a:latin typeface="Bahnschrift SemiBold Condensed" panose="020B0502040204020203" pitchFamily="34" charset="0"/>
            </a:endParaRPr>
          </a:p>
          <a:p>
            <a:pPr>
              <a:lnSpc>
                <a:spcPct val="150000"/>
              </a:lnSpc>
            </a:pPr>
            <a:endParaRPr lang="en-US" sz="3000" dirty="0">
              <a:latin typeface="Bahnschrift SemiBold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2036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B93445A-C346-62E5-DA8C-67EE81EA5F72}"/>
              </a:ext>
            </a:extLst>
          </p:cNvPr>
          <p:cNvSpPr/>
          <p:nvPr/>
        </p:nvSpPr>
        <p:spPr>
          <a:xfrm>
            <a:off x="431839" y="518576"/>
            <a:ext cx="6320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Bahnschrift SemiBold Condensed" panose="020B0502040204020203" pitchFamily="34" charset="0"/>
              </a:rPr>
              <a:t>6. </a:t>
            </a:r>
            <a:r>
              <a:rPr lang="en-US" sz="5400" dirty="0" err="1">
                <a:latin typeface="Bahnschrift SemiBold Condensed" panose="020B0502040204020203" pitchFamily="34" charset="0"/>
              </a:rPr>
              <a:t>Kết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quả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nghiên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cứu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F1ADF70B-7177-4ACC-C224-EA1D67EEE6F4}"/>
              </a:ext>
            </a:extLst>
          </p:cNvPr>
          <p:cNvSpPr/>
          <p:nvPr/>
        </p:nvSpPr>
        <p:spPr>
          <a:xfrm>
            <a:off x="922534" y="1239313"/>
            <a:ext cx="60610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latin typeface="Bahnschrift SemiBold Condensed" panose="020B0502040204020203" pitchFamily="34" charset="0"/>
              </a:rPr>
              <a:t>5. 1. Giao </a:t>
            </a:r>
            <a:r>
              <a:rPr lang="en-US" sz="3600" dirty="0" err="1">
                <a:latin typeface="Bahnschrift SemiBold Condensed" panose="020B0502040204020203" pitchFamily="34" charset="0"/>
              </a:rPr>
              <a:t>diện</a:t>
            </a: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BB199C-85D8-2591-34C4-9EB3076B3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863" y="2745683"/>
            <a:ext cx="7379863" cy="521261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397EDF8-0EF5-EA6D-E71A-3A16A49437F9}"/>
              </a:ext>
            </a:extLst>
          </p:cNvPr>
          <p:cNvSpPr txBox="1"/>
          <p:nvPr/>
        </p:nvSpPr>
        <p:spPr>
          <a:xfrm>
            <a:off x="679864" y="1970947"/>
            <a:ext cx="10463758" cy="57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latin typeface="Bahnschrift SemiLight SemiConde" panose="020B0502040204020203" pitchFamily="34" charset="0"/>
              </a:rPr>
              <a:t>Sau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quá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trình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cài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đặt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giao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diện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của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chương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trình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được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triển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khai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như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sau</a:t>
            </a:r>
            <a:r>
              <a:rPr lang="en-US" sz="2400" dirty="0">
                <a:latin typeface="Bahnschrift SemiLight SemiConde" panose="020B0502040204020203" pitchFamily="34" charset="0"/>
              </a:rPr>
              <a:t>: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0531177-01B2-2D9D-7DC9-A42DEC9CEC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0503" y="7691558"/>
            <a:ext cx="1869897" cy="533474"/>
          </a:xfrm>
          <a:prstGeom prst="rect">
            <a:avLst/>
          </a:prstGeom>
        </p:spPr>
      </p:pic>
      <p:sp>
        <p:nvSpPr>
          <p:cNvPr id="8" name="Right Triangle 7">
            <a:extLst>
              <a:ext uri="{FF2B5EF4-FFF2-40B4-BE49-F238E27FC236}">
                <a16:creationId xmlns:a16="http://schemas.microsoft.com/office/drawing/2014/main" id="{1517ADE5-AAC5-90B4-57B9-106975F72F87}"/>
              </a:ext>
            </a:extLst>
          </p:cNvPr>
          <p:cNvSpPr/>
          <p:nvPr/>
        </p:nvSpPr>
        <p:spPr>
          <a:xfrm rot="16200000">
            <a:off x="7182368" y="1078452"/>
            <a:ext cx="8450665" cy="5842494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72506135-880A-383A-A68A-FE147E2FC3B5}"/>
              </a:ext>
            </a:extLst>
          </p:cNvPr>
          <p:cNvSpPr/>
          <p:nvPr/>
        </p:nvSpPr>
        <p:spPr>
          <a:xfrm rot="10800000">
            <a:off x="7564413" y="-356262"/>
            <a:ext cx="6752491" cy="8711922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907516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0B84EC2-DB06-2DEB-0FBF-7DD37FBE7848}"/>
              </a:ext>
            </a:extLst>
          </p:cNvPr>
          <p:cNvSpPr/>
          <p:nvPr/>
        </p:nvSpPr>
        <p:spPr>
          <a:xfrm>
            <a:off x="431839" y="518576"/>
            <a:ext cx="632065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Bahnschrift SemiBold Condensed" panose="020B0502040204020203" pitchFamily="34" charset="0"/>
              </a:rPr>
              <a:t>6. </a:t>
            </a:r>
            <a:r>
              <a:rPr lang="en-US" sz="5400" dirty="0" err="1">
                <a:latin typeface="Bahnschrift SemiBold Condensed" panose="020B0502040204020203" pitchFamily="34" charset="0"/>
              </a:rPr>
              <a:t>Kết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quả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nghiên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cứu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61715319-F9B8-75C4-9A6B-F3E70A3B2645}"/>
              </a:ext>
            </a:extLst>
          </p:cNvPr>
          <p:cNvSpPr/>
          <p:nvPr/>
        </p:nvSpPr>
        <p:spPr>
          <a:xfrm>
            <a:off x="922534" y="1239313"/>
            <a:ext cx="60610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latin typeface="Bahnschrift SemiBold Condensed" panose="020B0502040204020203" pitchFamily="34" charset="0"/>
              </a:rPr>
              <a:t>5. 2. </a:t>
            </a:r>
            <a:r>
              <a:rPr lang="en-US" sz="3600" dirty="0" err="1">
                <a:latin typeface="Bahnschrift SemiBold Condensed" panose="020B0502040204020203" pitchFamily="34" charset="0"/>
              </a:rPr>
              <a:t>Chức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năng</a:t>
            </a: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249DEB-0F15-1971-716E-9C14DB3715E3}"/>
              </a:ext>
            </a:extLst>
          </p:cNvPr>
          <p:cNvSpPr txBox="1"/>
          <p:nvPr/>
        </p:nvSpPr>
        <p:spPr>
          <a:xfrm>
            <a:off x="810493" y="2101789"/>
            <a:ext cx="10463758" cy="16792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 err="1">
                <a:latin typeface="Bahnschrift SemiLight SemiConde" panose="020B0502040204020203" pitchFamily="34" charset="0"/>
              </a:rPr>
              <a:t>Tất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cả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chức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năng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cơ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bản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đều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hoạt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động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ổn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định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chính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xác</a:t>
            </a:r>
            <a:r>
              <a:rPr lang="en-US" sz="2400" dirty="0">
                <a:latin typeface="Bahnschrift SemiLight SemiConde" panose="020B0502040204020203" pitchFamily="34" charset="0"/>
              </a:rPr>
              <a:t>, bao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gồm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trường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hợp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đặc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biệt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như</a:t>
            </a:r>
            <a:r>
              <a:rPr lang="en-US" sz="2400" dirty="0">
                <a:latin typeface="Bahnschrift SemiLight SemiConde" panose="020B0502040204020203" pitchFamily="34" charset="0"/>
              </a:rPr>
              <a:t>: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đồng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hạng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cao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nhất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chỉ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trao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tối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đa</a:t>
            </a:r>
            <a:r>
              <a:rPr lang="en-US" sz="2400" dirty="0">
                <a:latin typeface="Bahnschrift SemiLight SemiConde" panose="020B0502040204020203" pitchFamily="34" charset="0"/>
              </a:rPr>
              <a:t> 5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giải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khuyến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khích</a:t>
            </a:r>
            <a:r>
              <a:rPr lang="en-US" sz="2400" dirty="0">
                <a:latin typeface="Bahnschrift SemiLight SemiConde" panose="020B0502040204020203" pitchFamily="34" charset="0"/>
              </a:rPr>
              <a:t>,…</a:t>
            </a:r>
          </a:p>
          <a:p>
            <a:pPr>
              <a:lnSpc>
                <a:spcPct val="150000"/>
              </a:lnSpc>
            </a:pPr>
            <a:endParaRPr lang="en-US" sz="2400" dirty="0">
              <a:latin typeface="Bahnschrift SemiLight SemiConde" panose="020B050204020402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43AD45C-AAFB-BDC0-712D-1A8B7508A0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1660" y="7334125"/>
            <a:ext cx="2438740" cy="895475"/>
          </a:xfrm>
          <a:prstGeom prst="rect">
            <a:avLst/>
          </a:prstGeom>
        </p:spPr>
      </p:pic>
      <p:sp>
        <p:nvSpPr>
          <p:cNvPr id="7" name="Right Triangle 6">
            <a:extLst>
              <a:ext uri="{FF2B5EF4-FFF2-40B4-BE49-F238E27FC236}">
                <a16:creationId xmlns:a16="http://schemas.microsoft.com/office/drawing/2014/main" id="{84AFDD54-C73B-C79A-13FE-E4310DC7B350}"/>
              </a:ext>
            </a:extLst>
          </p:cNvPr>
          <p:cNvSpPr/>
          <p:nvPr/>
        </p:nvSpPr>
        <p:spPr>
          <a:xfrm rot="10800000">
            <a:off x="9385400" y="-806609"/>
            <a:ext cx="4813161" cy="8140734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ABBFBB2-E190-919E-7DED-3E73F6A8C2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936" y="3934728"/>
            <a:ext cx="4944165" cy="377242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9BBF76-CE19-6179-D5E7-152D7E9DF1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1383" y="3934728"/>
            <a:ext cx="4250016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3901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65A7B18-FFDF-87F5-4BF6-0E80062F711F}"/>
              </a:ext>
            </a:extLst>
          </p:cNvPr>
          <p:cNvSpPr/>
          <p:nvPr/>
        </p:nvSpPr>
        <p:spPr>
          <a:xfrm>
            <a:off x="431839" y="518576"/>
            <a:ext cx="70943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Bahnschrift SemiBold Condensed" panose="020B0502040204020203" pitchFamily="34" charset="0"/>
              </a:rPr>
              <a:t>7. </a:t>
            </a:r>
            <a:r>
              <a:rPr lang="en-US" sz="5400" dirty="0" err="1">
                <a:latin typeface="Bahnschrift SemiBold Condensed" panose="020B0502040204020203" pitchFamily="34" charset="0"/>
              </a:rPr>
              <a:t>Kết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luận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và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hướng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phát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triển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BDA9F92B-580A-4364-0FFE-0C683F3B8470}"/>
              </a:ext>
            </a:extLst>
          </p:cNvPr>
          <p:cNvSpPr/>
          <p:nvPr/>
        </p:nvSpPr>
        <p:spPr>
          <a:xfrm>
            <a:off x="922534" y="1239313"/>
            <a:ext cx="60610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latin typeface="Bahnschrift SemiBold Condensed" panose="020B0502040204020203" pitchFamily="34" charset="0"/>
              </a:rPr>
              <a:t>7. 1. </a:t>
            </a:r>
            <a:r>
              <a:rPr lang="en-US" sz="3600" dirty="0" err="1">
                <a:latin typeface="Bahnschrift SemiBold Condensed" panose="020B0502040204020203" pitchFamily="34" charset="0"/>
              </a:rPr>
              <a:t>Kết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luận</a:t>
            </a: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B9141F-A4DB-1B06-2979-793F507DE0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8890" y="7797520"/>
            <a:ext cx="1821509" cy="4320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6A7DAEE-4483-D3E9-A058-4B2F9B8F93A8}"/>
              </a:ext>
            </a:extLst>
          </p:cNvPr>
          <p:cNvSpPr txBox="1"/>
          <p:nvPr/>
        </p:nvSpPr>
        <p:spPr>
          <a:xfrm>
            <a:off x="810493" y="2101789"/>
            <a:ext cx="10262791" cy="55572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Bahnschrift SemiLight SemiConde" panose="020B0502040204020203" pitchFamily="34" charset="0"/>
              </a:rPr>
              <a:t>Danh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kép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cấu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trúc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phù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hợp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bài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toán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động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giúp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nâng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cao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xử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so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với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phương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pháp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truyền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thống</a:t>
            </a:r>
            <a:r>
              <a:rPr lang="en-US" sz="2400" dirty="0">
                <a:latin typeface="Bahnschrift SemiLight SemiConde" panose="020B0502040204020203" pitchFamily="34" charset="0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Bahnschrift SemiLight SemiConde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Bahnschrift SemiLight SemiConde" panose="020B0502040204020203" pitchFamily="34" charset="0"/>
              </a:rPr>
              <a:t>Ứng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dụng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thành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công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danh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sách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kép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để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xây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dựng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chương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trình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kỳ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thi</a:t>
            </a:r>
            <a:r>
              <a:rPr lang="en-US" sz="2400" dirty="0">
                <a:latin typeface="Bahnschrift SemiLight SemiConde" panose="020B0502040204020203" pitchFamily="34" charset="0"/>
              </a:rPr>
              <a:t> Olympic Tin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học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viên</a:t>
            </a:r>
            <a:r>
              <a:rPr lang="en-US" sz="2400" dirty="0">
                <a:latin typeface="Bahnschrift SemiLight SemiConde" panose="020B0502040204020203" pitchFamily="34" charset="0"/>
              </a:rPr>
              <a:t> Trường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Đại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học</a:t>
            </a:r>
            <a:r>
              <a:rPr lang="en-US" sz="2400" dirty="0">
                <a:latin typeface="Bahnschrift SemiLight SemiConde" panose="020B0502040204020203" pitchFamily="34" charset="0"/>
              </a:rPr>
              <a:t> Trà Vinh (TVU)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với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chức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năng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cơ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bản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như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thông</a:t>
            </a:r>
            <a:r>
              <a:rPr lang="en-US" sz="2400" dirty="0">
                <a:latin typeface="Bahnschrift SemiLight SemiConde" panose="020B0502040204020203" pitchFamily="34" charset="0"/>
              </a:rPr>
              <a:t> tin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sinh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điểm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thi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tìm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kiếm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hiển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thị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cập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nhật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2400" dirty="0">
                <a:latin typeface="Bahnschrift SemiLight SemiConde" panose="020B0502040204020203" pitchFamily="34" charset="0"/>
              </a:rPr>
              <a:t>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US" sz="2400" dirty="0">
              <a:latin typeface="Bahnschrift SemiLight SemiConde" panose="020B0502040204020203" pitchFamily="34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Bahnschrift SemiLight SemiConde" panose="020B0502040204020203" pitchFamily="34" charset="0"/>
              </a:rPr>
              <a:t>Đề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tài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góp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phần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làm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rõ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khả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năng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vận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dụng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kiến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thức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cấu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trúc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bài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toán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thực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tế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có</a:t>
            </a:r>
            <a:r>
              <a:rPr lang="en-US" sz="2400" dirty="0">
                <a:latin typeface="Bahnschrift SemiLight SemiConde" panose="020B0502040204020203" pitchFamily="34" charset="0"/>
              </a:rPr>
              <a:t> ý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nghĩa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trong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học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tập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nghiên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cứu</a:t>
            </a:r>
            <a:r>
              <a:rPr lang="en-US" sz="2400" dirty="0">
                <a:latin typeface="Bahnschrift SemiLight SemiConde" panose="020B0502040204020203" pitchFamily="34" charset="0"/>
              </a:rPr>
              <a:t>.</a:t>
            </a:r>
            <a:endParaRPr lang="en-US" sz="3200" dirty="0">
              <a:latin typeface="Bahnschrift SemiLight SemiConde" panose="020B0502040204020203" pitchFamily="34" charset="0"/>
            </a:endParaRP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3FE10672-6B35-76E8-EB4D-4B3A2D3DAE88}"/>
              </a:ext>
            </a:extLst>
          </p:cNvPr>
          <p:cNvSpPr/>
          <p:nvPr/>
        </p:nvSpPr>
        <p:spPr>
          <a:xfrm rot="10800000">
            <a:off x="10400044" y="-2"/>
            <a:ext cx="4230356" cy="8140733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F0F49E5E-E95F-7ABF-2108-FD1C48948537}"/>
              </a:ext>
            </a:extLst>
          </p:cNvPr>
          <p:cNvSpPr/>
          <p:nvPr/>
        </p:nvSpPr>
        <p:spPr>
          <a:xfrm rot="16200000">
            <a:off x="10173604" y="3843141"/>
            <a:ext cx="6833583" cy="2080010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415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ED72652-47C4-30BB-2D2F-6FEE6E2E74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5081" y="7457967"/>
            <a:ext cx="2105319" cy="771633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33C050CF-EC1B-AB63-2F68-2C10151D526A}"/>
              </a:ext>
            </a:extLst>
          </p:cNvPr>
          <p:cNvSpPr/>
          <p:nvPr/>
        </p:nvSpPr>
        <p:spPr>
          <a:xfrm>
            <a:off x="431839" y="518576"/>
            <a:ext cx="70943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Bahnschrift SemiBold Condensed" panose="020B0502040204020203" pitchFamily="34" charset="0"/>
              </a:rPr>
              <a:t>7. </a:t>
            </a:r>
            <a:r>
              <a:rPr lang="en-US" sz="5400" dirty="0" err="1">
                <a:latin typeface="Bahnschrift SemiBold Condensed" panose="020B0502040204020203" pitchFamily="34" charset="0"/>
              </a:rPr>
              <a:t>Kết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luận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và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hướng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phát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triển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455FEA21-46F0-BA7B-2F04-8E9E2FFB2C53}"/>
              </a:ext>
            </a:extLst>
          </p:cNvPr>
          <p:cNvSpPr/>
          <p:nvPr/>
        </p:nvSpPr>
        <p:spPr>
          <a:xfrm>
            <a:off x="922534" y="1239313"/>
            <a:ext cx="60610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latin typeface="Bahnschrift SemiBold Condensed" panose="020B0502040204020203" pitchFamily="34" charset="0"/>
              </a:rPr>
              <a:t>7. 2. </a:t>
            </a:r>
            <a:r>
              <a:rPr lang="en-US" sz="3600" dirty="0" err="1">
                <a:latin typeface="Bahnschrift SemiBold Condensed" panose="020B0502040204020203" pitchFamily="34" charset="0"/>
              </a:rPr>
              <a:t>Hạn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chế</a:t>
            </a: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7F2BBA-2EA0-10D6-5FD9-A56E0D0A1B40}"/>
              </a:ext>
            </a:extLst>
          </p:cNvPr>
          <p:cNvSpPr txBox="1"/>
          <p:nvPr/>
        </p:nvSpPr>
        <p:spPr>
          <a:xfrm>
            <a:off x="1085222" y="1987588"/>
            <a:ext cx="7315200" cy="71114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 err="1">
                <a:latin typeface="Bahnschrift SemiLight SemiConde" panose="020B0502040204020203" pitchFamily="34" charset="0"/>
              </a:rPr>
              <a:t>Chưa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có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giao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diện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đồ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họa</a:t>
            </a:r>
            <a:endParaRPr lang="en-US" sz="2800" dirty="0">
              <a:latin typeface="Bahnschrift SemiLight SemiConde" panose="020B0502040204020203" pitchFamily="34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 err="1">
                <a:latin typeface="Bahnschrift SemiLight SemiConde" panose="020B0502040204020203" pitchFamily="34" charset="0"/>
              </a:rPr>
              <a:t>Hạn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chế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về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lưu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trữ</a:t>
            </a:r>
            <a:r>
              <a:rPr lang="en-US" sz="2800" dirty="0">
                <a:latin typeface="Bahnschrift SemiLight SemiConde" panose="020B0502040204020203" pitchFamily="34" charset="0"/>
              </a:rPr>
              <a:t> do </a:t>
            </a:r>
            <a:r>
              <a:rPr lang="en-US" sz="2800" dirty="0" err="1">
                <a:latin typeface="Bahnschrift SemiLight SemiConde" panose="020B0502040204020203" pitchFamily="34" charset="0"/>
              </a:rPr>
              <a:t>chưa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có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cơ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sở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liệu</a:t>
            </a:r>
            <a:endParaRPr lang="en-US" sz="2800" dirty="0">
              <a:latin typeface="Bahnschrift SemiLight SemiConde" panose="020B0502040204020203" pitchFamily="34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800" dirty="0" err="1">
                <a:latin typeface="Bahnschrift SemiLight SemiConde" panose="020B0502040204020203" pitchFamily="34" charset="0"/>
              </a:rPr>
              <a:t>Tính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năng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bảo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mật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không</a:t>
            </a:r>
            <a:r>
              <a:rPr lang="en-US" sz="2800" dirty="0">
                <a:latin typeface="Bahnschrift SemiLight SemiConde" panose="020B0502040204020203" pitchFamily="34" charset="0"/>
              </a:rPr>
              <a:t> </a:t>
            </a:r>
            <a:r>
              <a:rPr lang="en-US" sz="2800" dirty="0" err="1">
                <a:latin typeface="Bahnschrift SemiLight SemiConde" panose="020B0502040204020203" pitchFamily="34" charset="0"/>
              </a:rPr>
              <a:t>cao</a:t>
            </a:r>
            <a:endParaRPr lang="en-US" sz="2800" dirty="0">
              <a:latin typeface="Bahnschrift SemiLight SemiConde" panose="020B0502040204020203" pitchFamily="34" charset="0"/>
            </a:endParaRPr>
          </a:p>
          <a:p>
            <a:pPr marL="800100" lvl="1" indent="-342900">
              <a:lnSpc>
                <a:spcPct val="200000"/>
              </a:lnSpc>
              <a:buFont typeface="Wingdings" panose="05000000000000000000" pitchFamily="2" charset="2"/>
              <a:buChar char="q"/>
            </a:pPr>
            <a:endParaRPr lang="en-US" sz="2800" dirty="0">
              <a:latin typeface="Bahnschrift SemiLight SemiConde" panose="020B0502040204020203" pitchFamily="34" charset="0"/>
            </a:endParaRPr>
          </a:p>
          <a:p>
            <a:pPr lvl="1">
              <a:lnSpc>
                <a:spcPct val="200000"/>
              </a:lnSpc>
            </a:pPr>
            <a:endParaRPr lang="en-US" sz="2400" dirty="0">
              <a:latin typeface="Bahnschrift SemiLight SemiConde" panose="020B0502040204020203" pitchFamily="34" charset="0"/>
            </a:endParaRPr>
          </a:p>
          <a:p>
            <a:pPr lvl="1">
              <a:lnSpc>
                <a:spcPct val="200000"/>
              </a:lnSpc>
            </a:pPr>
            <a:endParaRPr lang="en-US" sz="2400" dirty="0">
              <a:latin typeface="Bahnschrift SemiLight SemiConde" panose="020B0502040204020203" pitchFamily="34" charset="0"/>
            </a:endParaRPr>
          </a:p>
          <a:p>
            <a:pPr lvl="1">
              <a:lnSpc>
                <a:spcPct val="200000"/>
              </a:lnSpc>
            </a:pPr>
            <a:endParaRPr lang="en-US" sz="2400" dirty="0">
              <a:latin typeface="Bahnschrift SemiLight SemiConde" panose="020B0502040204020203" pitchFamily="34" charset="0"/>
            </a:endParaRPr>
          </a:p>
          <a:p>
            <a:pPr lvl="1">
              <a:lnSpc>
                <a:spcPct val="200000"/>
              </a:lnSpc>
            </a:pPr>
            <a:endParaRPr lang="en-US" sz="2400" dirty="0">
              <a:latin typeface="Bahnschrift SemiLight SemiConde" panose="020B0502040204020203" pitchFamily="34" charset="0"/>
            </a:endParaRPr>
          </a:p>
          <a:p>
            <a:pPr lvl="1">
              <a:lnSpc>
                <a:spcPct val="200000"/>
              </a:lnSpc>
            </a:pPr>
            <a:endParaRPr lang="en-US" sz="2400" dirty="0">
              <a:latin typeface="Bahnschrift SemiLight SemiConde" panose="020B0502040204020203" pitchFamily="34" charset="0"/>
            </a:endParaRPr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D16425D0-F452-AAE6-2BF0-A837CDA33DE1}"/>
              </a:ext>
            </a:extLst>
          </p:cNvPr>
          <p:cNvSpPr/>
          <p:nvPr/>
        </p:nvSpPr>
        <p:spPr>
          <a:xfrm rot="10800000">
            <a:off x="7948246" y="0"/>
            <a:ext cx="6682154" cy="8140731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6146F469-B4AF-347B-62F1-2D631D91548C}"/>
              </a:ext>
            </a:extLst>
          </p:cNvPr>
          <p:cNvSpPr/>
          <p:nvPr/>
        </p:nvSpPr>
        <p:spPr>
          <a:xfrm rot="16200000">
            <a:off x="6802383" y="410054"/>
            <a:ext cx="6763243" cy="8892791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0191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animBg="1"/>
      <p:bldP spid="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13069E5-DAD5-2859-1424-DCE98C335802}"/>
              </a:ext>
            </a:extLst>
          </p:cNvPr>
          <p:cNvSpPr/>
          <p:nvPr/>
        </p:nvSpPr>
        <p:spPr>
          <a:xfrm>
            <a:off x="431839" y="518576"/>
            <a:ext cx="709437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latin typeface="Bahnschrift SemiBold Condensed" panose="020B0502040204020203" pitchFamily="34" charset="0"/>
              </a:rPr>
              <a:t>7. </a:t>
            </a:r>
            <a:r>
              <a:rPr lang="en-US" sz="5400" dirty="0" err="1">
                <a:latin typeface="Bahnschrift SemiBold Condensed" panose="020B0502040204020203" pitchFamily="34" charset="0"/>
              </a:rPr>
              <a:t>Kết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luận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và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hướng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phát</a:t>
            </a:r>
            <a:r>
              <a:rPr lang="en-US" sz="5400" dirty="0">
                <a:latin typeface="Bahnschrift SemiBold Condensed" panose="020B0502040204020203" pitchFamily="34" charset="0"/>
              </a:rPr>
              <a:t> </a:t>
            </a:r>
            <a:r>
              <a:rPr lang="en-US" sz="5400" dirty="0" err="1">
                <a:latin typeface="Bahnschrift SemiBold Condensed" panose="020B0502040204020203" pitchFamily="34" charset="0"/>
              </a:rPr>
              <a:t>triển</a:t>
            </a:r>
            <a:endParaRPr lang="en-US" sz="5400" dirty="0">
              <a:latin typeface="Bahnschrift SemiBold Condensed" panose="020B0502040204020203" pitchFamily="34" charset="0"/>
            </a:endParaRPr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1BC5AE04-9F2D-5392-8C3D-93607FD116C0}"/>
              </a:ext>
            </a:extLst>
          </p:cNvPr>
          <p:cNvSpPr/>
          <p:nvPr/>
        </p:nvSpPr>
        <p:spPr>
          <a:xfrm>
            <a:off x="922534" y="1239313"/>
            <a:ext cx="60610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dirty="0">
                <a:latin typeface="Bahnschrift SemiBold Condensed" panose="020B0502040204020203" pitchFamily="34" charset="0"/>
              </a:rPr>
              <a:t>7. 3. </a:t>
            </a:r>
            <a:r>
              <a:rPr lang="en-US" sz="3600" dirty="0" err="1">
                <a:latin typeface="Bahnschrift SemiBold Condensed" panose="020B0502040204020203" pitchFamily="34" charset="0"/>
              </a:rPr>
              <a:t>Hướng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phát</a:t>
            </a:r>
            <a:r>
              <a:rPr lang="en-US" sz="3600" dirty="0">
                <a:latin typeface="Bahnschrift SemiBold Condensed" panose="020B0502040204020203" pitchFamily="34" charset="0"/>
              </a:rPr>
              <a:t> </a:t>
            </a:r>
            <a:r>
              <a:rPr lang="en-US" sz="3600" dirty="0" err="1">
                <a:latin typeface="Bahnschrift SemiBold Condensed" panose="020B0502040204020203" pitchFamily="34" charset="0"/>
              </a:rPr>
              <a:t>triển</a:t>
            </a:r>
            <a:endParaRPr lang="en-US" sz="3600" dirty="0">
              <a:latin typeface="Bahnschrift SemiBold Condensed" panose="020B0502040204020203" pitchFamily="34" charset="0"/>
            </a:endParaRPr>
          </a:p>
          <a:p>
            <a:pPr>
              <a:lnSpc>
                <a:spcPct val="150000"/>
              </a:lnSpc>
            </a:pPr>
            <a:r>
              <a:rPr lang="en-US" sz="2400" dirty="0">
                <a:latin typeface="Bahnschrift SemiLight SemiConde" panose="020B0502040204020203" pitchFamily="34" charset="0"/>
              </a:rPr>
              <a:t>Trong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thời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gian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tới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đề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tài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có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thể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được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mở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rộng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phát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triển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theo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hướng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sau</a:t>
            </a:r>
            <a:r>
              <a:rPr lang="en-US" sz="2400" dirty="0">
                <a:latin typeface="Bahnschrift SemiLight SemiConde" panose="020B0502040204020203" pitchFamily="34" charset="0"/>
              </a:rPr>
              <a:t>:</a:t>
            </a:r>
            <a:endParaRPr lang="en-US" sz="3200" dirty="0">
              <a:latin typeface="Bahnschrift SemiLight SemiConde" panose="020B0502040204020203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Bahnschrift SemiLight SemiConde" panose="020B0502040204020203" pitchFamily="34" charset="0"/>
              </a:rPr>
              <a:t>Xây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dựng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giao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diện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đồ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họa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thân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thiện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hơn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người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dùng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nối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chương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trình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với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cơ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sở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để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với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quy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mô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lớn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Bahnschrift SemiLight SemiConde" panose="020B0502040204020203" pitchFamily="34" charset="0"/>
              </a:rPr>
              <a:t>Bổ</a:t>
            </a:r>
            <a:r>
              <a:rPr lang="en-US" sz="2400" dirty="0">
                <a:latin typeface="Bahnschrift SemiLight SemiConde" panose="020B0502040204020203" pitchFamily="34" charset="0"/>
              </a:rPr>
              <a:t> sung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chức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năng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thống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kê</a:t>
            </a:r>
            <a:r>
              <a:rPr lang="en-US" sz="2400" dirty="0">
                <a:latin typeface="Bahnschrift SemiLight SemiConde" panose="020B0502040204020203" pitchFamily="34" charset="0"/>
              </a:rPr>
              <a:t>, </a:t>
            </a:r>
            <a:r>
              <a:rPr lang="en-US" sz="2400" dirty="0" err="1">
                <a:latin typeface="Bahnschrift SemiLight SemiConde" panose="020B0502040204020203" pitchFamily="34" charset="0"/>
              </a:rPr>
              <a:t>xếp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hạng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xuất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báo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kết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Bahnschrift SemiLight SemiConde" panose="020B0502040204020203" pitchFamily="34" charset="0"/>
              </a:rPr>
              <a:t>Nâng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cao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hiệu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năng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xử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và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bảo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mật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dữ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liệu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400" dirty="0" err="1">
                <a:latin typeface="Bahnschrift SemiLight SemiConde" panose="020B0502040204020203" pitchFamily="34" charset="0"/>
              </a:rPr>
              <a:t>Mở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rộng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ứng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dụng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cho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các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kỳ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thi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hoặc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hệ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thống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quản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lý</a:t>
            </a:r>
            <a:r>
              <a:rPr lang="en-US" sz="2400" dirty="0">
                <a:latin typeface="Bahnschrift SemiLight SemiConde" panose="020B0502040204020203" pitchFamily="34" charset="0"/>
              </a:rPr>
              <a:t> </a:t>
            </a:r>
            <a:r>
              <a:rPr lang="en-US" sz="2400" dirty="0" err="1">
                <a:latin typeface="Bahnschrift SemiLight SemiConde" panose="020B0502040204020203" pitchFamily="34" charset="0"/>
              </a:rPr>
              <a:t>khác</a:t>
            </a:r>
            <a:endParaRPr lang="en-US" sz="2400" dirty="0">
              <a:latin typeface="Bahnschrift SemiLight SemiConde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  <a:p>
            <a:pPr marL="0" indent="0" algn="l">
              <a:lnSpc>
                <a:spcPts val="5550"/>
              </a:lnSpc>
              <a:buNone/>
            </a:pPr>
            <a:endParaRPr lang="en-US" sz="3600" dirty="0">
              <a:latin typeface="Bahnschrift SemiBold Condensed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18E1DD-54E7-5DB5-F66E-FA99AB6CD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8400" y="7607263"/>
            <a:ext cx="2032000" cy="533474"/>
          </a:xfrm>
          <a:prstGeom prst="rect">
            <a:avLst/>
          </a:prstGeom>
        </p:spPr>
      </p:pic>
      <p:sp>
        <p:nvSpPr>
          <p:cNvPr id="5" name="Right Triangle 4">
            <a:extLst>
              <a:ext uri="{FF2B5EF4-FFF2-40B4-BE49-F238E27FC236}">
                <a16:creationId xmlns:a16="http://schemas.microsoft.com/office/drawing/2014/main" id="{AB45A354-D33B-C72C-F1AF-4078CA713388}"/>
              </a:ext>
            </a:extLst>
          </p:cNvPr>
          <p:cNvSpPr/>
          <p:nvPr/>
        </p:nvSpPr>
        <p:spPr>
          <a:xfrm rot="10800000">
            <a:off x="9314822" y="-3"/>
            <a:ext cx="5315578" cy="8140734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11F77967-9C23-EBBC-70BD-E626CC9FECC2}"/>
              </a:ext>
            </a:extLst>
          </p:cNvPr>
          <p:cNvSpPr/>
          <p:nvPr/>
        </p:nvSpPr>
        <p:spPr>
          <a:xfrm rot="16200000">
            <a:off x="7154075" y="753272"/>
            <a:ext cx="6763246" cy="8189409"/>
          </a:xfrm>
          <a:prstGeom prst="rtTriangle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5570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A4FF44-9493-96D3-D2A8-D80F232678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48447" y="7400286"/>
            <a:ext cx="3781953" cy="905001"/>
          </a:xfrm>
          <a:prstGeom prst="rect">
            <a:avLst/>
          </a:prstGeom>
        </p:spPr>
      </p:pic>
      <p:pic>
        <p:nvPicPr>
          <p:cNvPr id="4" name="Picture 2" descr="Cơ cấu tổ chức của Trường Kỹ thuật và Công nghệ thuộc Trường Đại học Trà  Vinh">
            <a:extLst>
              <a:ext uri="{FF2B5EF4-FFF2-40B4-BE49-F238E27FC236}">
                <a16:creationId xmlns:a16="http://schemas.microsoft.com/office/drawing/2014/main" id="{5AA1ACD9-19F7-73BB-113B-BBDE933C64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940" y="133037"/>
            <a:ext cx="14414459" cy="2539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B2ED9C1-3BA1-A6C9-DE7E-ACFB6FF1CBE2}"/>
              </a:ext>
            </a:extLst>
          </p:cNvPr>
          <p:cNvSpPr txBox="1"/>
          <p:nvPr/>
        </p:nvSpPr>
        <p:spPr>
          <a:xfrm>
            <a:off x="2690395" y="3089544"/>
            <a:ext cx="9746901" cy="1528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4800" dirty="0">
                <a:solidFill>
                  <a:srgbClr val="FF0000"/>
                </a:solidFill>
                <a:latin typeface="Bahnschrift SemiBold Condensed" panose="020B0502040204020203" pitchFamily="34" charset="0"/>
              </a:rPr>
              <a:t>EM XIN CHÂN THÀNH CẢM ƠN QUÝ THẦY CÔ ĐÃ LẮNG NGHE BÀI THUYẾT TRÌNH</a:t>
            </a:r>
          </a:p>
        </p:txBody>
      </p:sp>
      <p:sp>
        <p:nvSpPr>
          <p:cNvPr id="7" name="Right Triangle 6">
            <a:extLst>
              <a:ext uri="{FF2B5EF4-FFF2-40B4-BE49-F238E27FC236}">
                <a16:creationId xmlns:a16="http://schemas.microsoft.com/office/drawing/2014/main" id="{232461A6-FC60-D10B-B6B6-A6D2A4B92970}"/>
              </a:ext>
            </a:extLst>
          </p:cNvPr>
          <p:cNvSpPr/>
          <p:nvPr/>
        </p:nvSpPr>
        <p:spPr>
          <a:xfrm>
            <a:off x="0" y="3196750"/>
            <a:ext cx="12892035" cy="5108537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1179BA66-19A7-0064-DE29-ADCB28148F8B}"/>
              </a:ext>
            </a:extLst>
          </p:cNvPr>
          <p:cNvSpPr/>
          <p:nvPr/>
        </p:nvSpPr>
        <p:spPr>
          <a:xfrm rot="16200000">
            <a:off x="6727374" y="326570"/>
            <a:ext cx="5064370" cy="10741690"/>
          </a:xfrm>
          <a:prstGeom prst="rtTriangl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77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225</TotalTime>
  <Words>1539</Words>
  <Application>Microsoft Office PowerPoint</Application>
  <PresentationFormat>Custom</PresentationFormat>
  <Paragraphs>148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Bahnschrift SemiBold Condensed</vt:lpstr>
      <vt:lpstr>Bahnschrift SemiLight SemiConde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lastModifiedBy>Huy Hung</cp:lastModifiedBy>
  <cp:revision>13</cp:revision>
  <dcterms:created xsi:type="dcterms:W3CDTF">2026-01-04T16:36:50Z</dcterms:created>
  <dcterms:modified xsi:type="dcterms:W3CDTF">2026-01-05T03:53:20Z</dcterms:modified>
</cp:coreProperties>
</file>